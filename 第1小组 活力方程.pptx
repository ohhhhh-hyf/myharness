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6" r:id="rId2"/>
  </p:sldMasterIdLst>
  <p:notesMasterIdLst>
    <p:notesMasterId r:id="rId7"/>
  </p:notesMasterIdLst>
  <p:handoutMasterIdLst>
    <p:handoutMasterId r:id="rId8"/>
  </p:handoutMasterIdLst>
  <p:sldIdLst>
    <p:sldId id="16776975" r:id="rId3"/>
    <p:sldId id="16776976" r:id="rId4"/>
    <p:sldId id="16776977" r:id="rId5"/>
    <p:sldId id="16776978" r:id="rId6"/>
  </p:sldIdLst>
  <p:sldSz cx="12192000" cy="6858000"/>
  <p:notesSz cx="9144000" cy="6858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6">
          <p15:clr>
            <a:srgbClr val="A4A3A4"/>
          </p15:clr>
        </p15:guide>
        <p15:guide id="2" pos="960">
          <p15:clr>
            <a:srgbClr val="A4A3A4"/>
          </p15:clr>
        </p15:guide>
        <p15:guide id="3" orient="horz" pos="2137">
          <p15:clr>
            <a:srgbClr val="A4A3A4"/>
          </p15:clr>
        </p15:guide>
        <p15:guide id="4" orient="horz" pos="1911">
          <p15:clr>
            <a:srgbClr val="A4A3A4"/>
          </p15:clr>
        </p15:guide>
        <p15:guide id="5" orient="horz" pos="1434">
          <p15:clr>
            <a:srgbClr val="A4A3A4"/>
          </p15:clr>
        </p15:guide>
        <p15:guide id="6" orient="horz" pos="2409">
          <p15:clr>
            <a:srgbClr val="A4A3A4"/>
          </p15:clr>
        </p15:guide>
        <p15:guide id="7" orient="horz" pos="2500">
          <p15:clr>
            <a:srgbClr val="A4A3A4"/>
          </p15:clr>
        </p15:guide>
        <p15:guide id="8" orient="horz" pos="709">
          <p15:clr>
            <a:srgbClr val="A4A3A4"/>
          </p15:clr>
        </p15:guide>
        <p15:guide id="9" orient="horz" pos="3838">
          <p15:clr>
            <a:srgbClr val="A4A3A4"/>
          </p15:clr>
        </p15:guide>
        <p15:guide id="10" pos="483">
          <p15:clr>
            <a:srgbClr val="A4A3A4"/>
          </p15:clr>
        </p15:guide>
        <p15:guide id="11" pos="642">
          <p15:clr>
            <a:srgbClr val="A4A3A4"/>
          </p15:clr>
        </p15:guide>
        <p15:guide id="12" pos="740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22" autoAdjust="0"/>
    <p:restoredTop sz="87238" autoAdjust="0"/>
  </p:normalViewPr>
  <p:slideViewPr>
    <p:cSldViewPr snapToGrid="0">
      <p:cViewPr>
        <p:scale>
          <a:sx n="100" d="100"/>
          <a:sy n="100" d="100"/>
        </p:scale>
        <p:origin x="84" y="72"/>
      </p:cViewPr>
      <p:guideLst>
        <p:guide orient="horz" pos="1706"/>
        <p:guide pos="960"/>
        <p:guide orient="horz" pos="2137"/>
        <p:guide orient="horz" pos="1911"/>
        <p:guide orient="horz" pos="1434"/>
        <p:guide orient="horz" pos="2409"/>
        <p:guide orient="horz" pos="2500"/>
        <p:guide orient="horz" pos="709"/>
        <p:guide orient="horz" pos="3838"/>
        <p:guide pos="483"/>
        <p:guide pos="642"/>
        <p:guide pos="7401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37" d="100"/>
          <a:sy n="137" d="100"/>
        </p:scale>
        <p:origin x="1576" y="18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方正兰亭黑简体" pitchFamily="2" charset="-122"/>
              </a:defRPr>
            </a:lvl1pPr>
          </a:lstStyle>
          <a:p>
            <a:pPr>
              <a:defRPr/>
            </a:pPr>
            <a:fld id="{B472C63E-AF15-4312-8FBC-8793FA367431}" type="datetimeFigureOut">
              <a:rPr lang="zh-CN" altLang="en-US"/>
              <a:t>2026/9/13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94AB1AEA-C6B3-4C17-A018-F173440E880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fld id="{C7D3AFAD-6731-4E56-A8E4-26B1CF9D9C84}" type="datetimeFigureOut">
              <a:rPr lang="zh-CN" altLang="en-US"/>
              <a:t>2026/9/13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A3DA2FB9-AB08-475C-85A5-98FD49A0746A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方正兰亭黑简体" pitchFamily="2" charset="-122"/>
        <a:ea typeface="方正兰亭黑简体" pitchFamily="2" charset="-122"/>
        <a:cs typeface="方正兰亭黑简体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>
                <a:solidFill>
                  <a:schemeClr val="tx1"/>
                </a:solidFill>
                <a:effectLst/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rPr>
              <a:t>为了让用户更快了解小艺，我们从权威网站（华为官网支持中心等）分析并整理出对应文档，统一为 md 格式</a:t>
            </a:r>
            <a:endParaRPr lang="en-US" altLang="zh-CN" sz="1200" b="0" i="0" kern="1200">
              <a:solidFill>
                <a:schemeClr val="tx1"/>
              </a:solidFill>
              <a:effectLst/>
              <a:latin typeface="方正兰亭黑简体" pitchFamily="2" charset="-122"/>
              <a:ea typeface="方正兰亭黑简体" pitchFamily="2" charset="-122"/>
              <a:cs typeface="方正兰亭黑简体" pitchFamily="2" charset="-122"/>
            </a:endParaRPr>
          </a:p>
          <a:p>
            <a:r>
              <a:rPr lang="zh-CN" altLang="zh-CN" sz="1200" b="0" i="0" kern="1200">
                <a:solidFill>
                  <a:schemeClr val="tx1"/>
                </a:solidFill>
                <a:effectLst/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rPr>
              <a:t>——选择 md 是因为整条入库链路（分节、切块、向量化）都以它为标准输入。 当前初步验证阶段直接使用人工整理的 md 文件；</a:t>
            </a:r>
            <a:endParaRPr lang="en-US" altLang="zh-CN" sz="1200" b="0" i="0" kern="1200">
              <a:solidFill>
                <a:schemeClr val="tx1"/>
              </a:solidFill>
              <a:effectLst/>
              <a:latin typeface="方正兰亭黑简体" pitchFamily="2" charset="-122"/>
              <a:ea typeface="方正兰亭黑简体" pitchFamily="2" charset="-122"/>
              <a:cs typeface="方正兰亭黑简体" pitchFamily="2" charset="-122"/>
            </a:endParaRPr>
          </a:p>
          <a:p>
            <a:r>
              <a:rPr lang="zh-CN" altLang="zh-CN" sz="1200" b="0" i="0" kern="1200">
                <a:solidFill>
                  <a:schemeClr val="tx1"/>
                </a:solidFill>
                <a:effectLst/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rPr>
              <a:t>后续扩展只需解决“各种格式 → md”这一步：连接 wiki 拉取在线文档，用 OCR 处理扫描件、视觉模型处理截图和表格，最终都归一成 md 喂给同一条入库链路，知识库即可自动扩容。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A2FB9-AB08-475C-85A5-98FD49A0746A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469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A78F9-8E42-50C5-2EEA-5A2A08C80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DBE62-B083-9846-E253-FE990050A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A5D3B1-53AC-7E46-3986-BCEC741E2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z="1200"/>
              <a:t>为什么要</a:t>
            </a:r>
            <a:r>
              <a:rPr lang="en-US" altLang="zh-CN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 + questions + answer 整块编码</a:t>
            </a:r>
            <a:r>
              <a:rPr lang="zh-CN" alt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？相对于根据内容直接切块编码有什么优势？</a:t>
            </a:r>
            <a:endParaRPr lang="en-US" altLang="zh-CN" sz="1200"/>
          </a:p>
          <a:p>
            <a:pPr lvl="0"/>
            <a:r>
              <a:rPr lang="zh-CN" altLang="zh-CN" sz="1200"/>
              <a:t>上下文进向量——category + questions 把“这段话属于哪一节”写进向量，正文里的指代和省略不再悬空，语义完整；</a:t>
            </a:r>
          </a:p>
          <a:p>
            <a:pPr lvl="0"/>
            <a:r>
              <a:rPr lang="zh-CN" altLang="zh-CN" sz="1200"/>
              <a:t>问句贴近问法——小节标题天然是问题形状的浓缩，填进 questions 后，用户问法和块的表达在向量空间里更近，召回更准；</a:t>
            </a:r>
          </a:p>
          <a:p>
            <a:pPr lvl="0"/>
            <a:r>
              <a:rPr lang="zh-CN" altLang="zh-CN" sz="1200"/>
              <a:t>抗稀释——标题当语义锚，answer 再长，“关于哪个话题”先定调，向量不被长正文冲淡；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1EB9B7-59D5-3638-7AC9-52E0BF9B5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A2FB9-AB08-475C-85A5-98FD49A0746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517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794CF-572B-AAD5-6C56-62608AD04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3B8CD5-9402-2E86-60CA-C4429636B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9543F4-F49E-2428-6BDE-2EEAE64D8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>
                <a:solidFill>
                  <a:schemeClr val="tx1"/>
                </a:solidFill>
                <a:effectLst/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rPr>
              <a:t>联合编码——粗排是各自编码再算距离，query 和文档从头到尾没见过面；精排把它俩拼成一条输入送进模型，词与词充分交互后再打相关分，所以更懂“是否对题”。</a:t>
            </a:r>
            <a:endParaRPr lang="en-US" altLang="zh-CN" sz="1200" b="0" i="0" kern="1200">
              <a:solidFill>
                <a:schemeClr val="tx1"/>
              </a:solidFill>
              <a:effectLst/>
              <a:latin typeface="方正兰亭黑简体" pitchFamily="2" charset="-122"/>
              <a:ea typeface="方正兰亭黑简体" pitchFamily="2" charset="-122"/>
              <a:cs typeface="方正兰亭黑简体" pitchFamily="2" charset="-122"/>
            </a:endParaRPr>
          </a:p>
          <a:p>
            <a:r>
              <a:rPr lang="zh-CN" altLang="zh-CN" sz="1200" b="0" i="0" kern="1200">
                <a:solidFill>
                  <a:schemeClr val="tx1"/>
                </a:solidFill>
                <a:effectLst/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rPr>
              <a:t>阈值把关——reranker 的分数跨查询可比，所以我们敢设 0.3 的硬闸：5 条里最高分都不过线就坦白说“证据不足”，宁缺毋滥不硬答。</a:t>
            </a:r>
            <a:endParaRPr lang="en-US" altLang="zh-CN" sz="1200" b="0" i="0" kern="1200">
              <a:solidFill>
                <a:schemeClr val="tx1"/>
              </a:solidFill>
              <a:effectLst/>
              <a:latin typeface="方正兰亭黑简体" pitchFamily="2" charset="-122"/>
              <a:ea typeface="方正兰亭黑简体" pitchFamily="2" charset="-122"/>
              <a:cs typeface="方正兰亭黑简体" pitchFamily="2" charset="-122"/>
            </a:endParaRPr>
          </a:p>
          <a:p>
            <a:r>
              <a:rPr lang="zh-CN" altLang="zh-CN" sz="1200" b="0" i="0" kern="1200">
                <a:solidFill>
                  <a:schemeClr val="tx1"/>
                </a:solidFill>
                <a:effectLst/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rPr>
              <a:t>证据可溯源——最终注入大模型的每条证据都带小节路径和来源文件，模型作答能说出“据某文档某小节”，用户可以核对出处。</a:t>
            </a:r>
            <a:endParaRPr lang="en-US" altLang="zh-CN" sz="1200" b="0" i="0" kern="1200">
              <a:solidFill>
                <a:schemeClr val="tx1"/>
              </a:solidFill>
              <a:effectLst/>
              <a:latin typeface="方正兰亭黑简体" pitchFamily="2" charset="-122"/>
              <a:ea typeface="方正兰亭黑简体" pitchFamily="2" charset="-122"/>
              <a:cs typeface="方正兰亭黑简体" pitchFamily="2" charset="-122"/>
            </a:endParaRP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rPr>
              <a:t>为什么是 0.3？</a:t>
            </a:r>
          </a:p>
          <a:p>
            <a:r>
              <a:rPr lang="zh-CN" altLang="zh-CN" sz="1200" b="0" i="0" kern="1200">
                <a:solidFill>
                  <a:schemeClr val="tx1"/>
                </a:solidFill>
                <a:effectLst/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rPr>
              <a:t>因为拿两类问题实测过这个分数的分布：</a:t>
            </a:r>
          </a:p>
          <a:p>
            <a:pPr lvl="0"/>
            <a:r>
              <a:rPr lang="zh-CN" altLang="zh-CN" sz="1200" b="0" i="0" kern="1200">
                <a:solidFill>
                  <a:schemeClr val="tx1"/>
                </a:solidFill>
                <a:effectLst/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rPr>
              <a:t>拿一批和小艺有关的问题（“小艺慧记怎么导出 Word”“唤醒词能改吗”）去跑 → 命中块的 rerank 分普遍在 0.6 以上；</a:t>
            </a:r>
          </a:p>
          <a:p>
            <a:pPr lvl="0"/>
            <a:r>
              <a:rPr lang="zh-CN" altLang="zh-CN" sz="1200" b="0" i="0" kern="1200">
                <a:solidFill>
                  <a:schemeClr val="tx1"/>
                </a:solidFill>
                <a:effectLst/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rPr>
              <a:t>拿一批无关问题（“今天天气怎么样”“写个快速排序”）去跑 → 最相关块也只有 0.3 以下。</a:t>
            </a:r>
          </a:p>
          <a:p>
            <a:r>
              <a:rPr lang="zh-CN" altLang="zh-CN" sz="1200" b="0" i="0" kern="1200">
                <a:solidFill>
                  <a:schemeClr val="tx1"/>
                </a:solidFill>
                <a:effectLst/>
                <a:latin typeface="方正兰亭黑简体" pitchFamily="2" charset="-122"/>
                <a:ea typeface="方正兰亭黑简体" pitchFamily="2" charset="-122"/>
                <a:cs typeface="方正兰亭黑简体" pitchFamily="2" charset="-122"/>
              </a:rPr>
              <a:t>两类分数中间有一段空档，0.3 正好落在分界线上——注意它不是拍脑袋取的中间值 0.5，而是两类分布实际分开的位置。这样门槛两边都不容易出错：</a:t>
            </a:r>
          </a:p>
          <a:p>
            <a:endParaRPr lang="zh-CN" altLang="en-US" sz="1200" b="1">
              <a:solidFill>
                <a:srgbClr val="0D0D0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21485-0066-05D9-2D96-484516734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A2FB9-AB08-475C-85A5-98FD49A0746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352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C93B9-F366-4FC4-D8DE-2E1EFC602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CA871F-9E70-6093-683B-3B37FCC92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DCC2C8-7209-D7CE-1B33-F7F620251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1">
              <a:solidFill>
                <a:srgbClr val="0D0D0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82CA15-79DB-D2CA-41DA-8878BF3B9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A2FB9-AB08-475C-85A5-98FD49A0746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554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b="23589"/>
          <a:stretch>
            <a:fillRect/>
          </a:stretch>
        </p:blipFill>
        <p:spPr bwMode="auto">
          <a:xfrm>
            <a:off x="1873250" y="0"/>
            <a:ext cx="10318750" cy="524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9355138" y="5918200"/>
            <a:ext cx="2506662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>
              <a:defRPr/>
            </a:pPr>
            <a:r>
              <a:rPr lang="zh-CN" altLang="zh-CN" sz="110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pic>
        <p:nvPicPr>
          <p:cNvPr id="6" name="图片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888" y="5722938"/>
            <a:ext cx="1846262" cy="422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050925" y="6356350"/>
            <a:ext cx="2506663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>
              <a:defRPr/>
            </a:pPr>
            <a:r>
              <a:rPr lang="zh-CN" altLang="zh-CN" sz="1100" dirty="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 dirty="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kumimoji="1" sz="1200">
                <a:solidFill>
                  <a:srgbClr val="0D0D0D"/>
                </a:solidFill>
                <a:latin typeface="Huawei Sans" panose="020C0503030203020204" pitchFamily="34" charset="0"/>
                <a:cs typeface="Huawei Sans" panose="020C0503030203020204" pitchFamily="34" charset="0"/>
              </a:defRPr>
            </a:lvl1pPr>
          </a:lstStyle>
          <a:p>
            <a:r>
              <a:rPr lang="en-US" altLang="zh-CN"/>
              <a:t>-</a:t>
            </a:r>
            <a:fld id="{51C85D01-F40E-4161-9EA2-1F1C765C0468}" type="slidenum">
              <a:rPr lang="zh-CN" altLang="en-US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pic>
        <p:nvPicPr>
          <p:cNvPr id="5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8938" y="6330950"/>
            <a:ext cx="1249362" cy="28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kumimoji="1" sz="1200">
                <a:solidFill>
                  <a:srgbClr val="0D0D0D"/>
                </a:solidFill>
                <a:latin typeface="Huawei Sans" panose="020C0503030203020204" pitchFamily="34" charset="0"/>
                <a:cs typeface="Huawei Sans" panose="020C0503030203020204" pitchFamily="34" charset="0"/>
              </a:defRPr>
            </a:lvl1pPr>
          </a:lstStyle>
          <a:p>
            <a:r>
              <a:rPr lang="en-US" altLang="zh-CN"/>
              <a:t>-</a:t>
            </a:r>
            <a:fld id="{9B74C2D5-FEED-4715-899E-38C6B33D7936}" type="slidenum">
              <a:rPr lang="zh-CN" altLang="en-US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pic>
        <p:nvPicPr>
          <p:cNvPr id="4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8938" y="6330950"/>
            <a:ext cx="1249362" cy="28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050925" y="6356350"/>
            <a:ext cx="250666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>
              <a:defRPr/>
            </a:pPr>
            <a:r>
              <a:rPr lang="zh-CN" altLang="zh-CN" sz="1100" dirty="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 dirty="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sz="1200">
                <a:solidFill>
                  <a:schemeClr val="tx1">
                    <a:lumMod val="95000"/>
                    <a:lumOff val="5000"/>
                  </a:schemeClr>
                </a:solidFill>
                <a:latin typeface="Huawei Sans" panose="020C0503030203020204" pitchFamily="34" charset="0"/>
                <a:ea typeface="方正兰亭黑简体" pitchFamily="2" charset="-122"/>
                <a:cs typeface="Huawei Sans" panose="020C0503030203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E8C452DA-F1B4-4387-88D2-FD96FA08D546}" type="slidenum">
              <a:rPr lang="zh-CN" altLang="en-US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pic>
        <p:nvPicPr>
          <p:cNvPr id="5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8938" y="6330950"/>
            <a:ext cx="1249362" cy="28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sz="1200">
                <a:solidFill>
                  <a:schemeClr val="tx1">
                    <a:lumMod val="95000"/>
                    <a:lumOff val="5000"/>
                  </a:schemeClr>
                </a:solidFill>
                <a:latin typeface="Huawei Sans" panose="020C0503030203020204" pitchFamily="34" charset="0"/>
                <a:ea typeface="方正兰亭黑简体" pitchFamily="2" charset="-122"/>
                <a:cs typeface="Huawei Sans" panose="020C0503030203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02E7902B-00C1-4DB1-9671-4B3BFB84EC8E}" type="slidenum">
              <a:rPr lang="zh-CN" altLang="en-US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pic>
        <p:nvPicPr>
          <p:cNvPr id="4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8938" y="6330950"/>
            <a:ext cx="1249362" cy="28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bg1">
            <a:alpha val="4705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3938" y="5718175"/>
            <a:ext cx="18319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lIns="91418" tIns="45708" rIns="91418" bIns="45708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lIns="91418" tIns="45708" rIns="91418" bIns="45708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方正兰亭黑简体" pitchFamily="2" charset="-122"/>
          <a:ea typeface="方正兰亭黑简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方正兰亭黑简体" pitchFamily="2" charset="-122"/>
          <a:ea typeface="方正兰亭黑简体" pitchFamily="2" charset="-122"/>
          <a:cs typeface="方正兰亭黑简体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0" y="6356939"/>
            <a:ext cx="1462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2" y="2625390"/>
            <a:ext cx="1962556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图像" descr="图像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93706" y="6271070"/>
            <a:ext cx="1455693" cy="3185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8" name="图片 4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867638" y="6376821"/>
            <a:ext cx="996633" cy="21095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0477FC0-FE65-BF11-40A9-B358C5957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813" y="3686095"/>
            <a:ext cx="5856573" cy="2636919"/>
          </a:xfrm>
          <a:prstGeom prst="rect">
            <a:avLst/>
          </a:prstGeom>
        </p:spPr>
      </p:pic>
      <p:sp>
        <p:nvSpPr>
          <p:cNvPr id="25602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65163" y="63230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fld id="{E644F1D8-075D-425C-B135-767E88DACD2B}" type="slidenum">
              <a:rPr lang="zh-CN" altLang="en-US">
                <a:solidFill>
                  <a:srgbClr val="0D0D0D"/>
                </a:solidFill>
                <a:latin typeface="Huawei Sans" panose="020C0503030203020204" pitchFamily="34" charset="0"/>
              </a:rPr>
              <a:t>0</a:t>
            </a:fld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endParaRPr lang="zh-CN" altLang="en-US">
              <a:solidFill>
                <a:srgbClr val="0D0D0D"/>
              </a:solidFill>
              <a:latin typeface="Huawei Sans" panose="020C0503030203020204" pitchFamily="34" charset="0"/>
            </a:endParaRPr>
          </a:p>
        </p:txBody>
      </p:sp>
      <p:sp>
        <p:nvSpPr>
          <p:cNvPr id="4" name="副标题 1"/>
          <p:cNvSpPr txBox="1"/>
          <p:nvPr/>
        </p:nvSpPr>
        <p:spPr>
          <a:xfrm>
            <a:off x="301625" y="106761"/>
            <a:ext cx="2493440" cy="41549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89090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48463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207835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67208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31292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35864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40436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45008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 algn="l" eaLnBrk="1" hangingPunct="1">
              <a:buFont typeface="Arial" panose="020B0604020202020204" pitchFamily="34" charset="0"/>
              <a:buNone/>
            </a:pP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艺知</a:t>
            </a: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识库</a:t>
            </a:r>
            <a:r>
              <a:rPr lang="en-US" altLang="zh-CN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endParaRPr lang="en-US" altLang="zh-CN" sz="27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副标题 1">
            <a:extLst>
              <a:ext uri="{FF2B5EF4-FFF2-40B4-BE49-F238E27FC236}">
                <a16:creationId xmlns:a16="http://schemas.microsoft.com/office/drawing/2014/main" id="{5A233D52-38F8-94AF-6F52-30D5B12BE68D}"/>
              </a:ext>
            </a:extLst>
          </p:cNvPr>
          <p:cNvSpPr txBox="1"/>
          <p:nvPr/>
        </p:nvSpPr>
        <p:spPr>
          <a:xfrm>
            <a:off x="301625" y="2150257"/>
            <a:ext cx="5091009" cy="27699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89090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48463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207835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67208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31292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35864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40436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45008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离线知识库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Markdown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到可检索的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Trunk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知识块</a:t>
            </a:r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46B898-4AF2-70C6-91B2-B30401B548B9}"/>
              </a:ext>
            </a:extLst>
          </p:cNvPr>
          <p:cNvSpPr txBox="1"/>
          <p:nvPr/>
        </p:nvSpPr>
        <p:spPr>
          <a:xfrm>
            <a:off x="234926" y="596771"/>
            <a:ext cx="1172214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/>
              <a:t>大模型像一个闭卷考试的学生，知识停留在训练结束的那天</a:t>
            </a:r>
            <a:r>
              <a:rPr lang="zh-CN" altLang="en-US" sz="1600"/>
              <a:t>。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RAG</a:t>
            </a:r>
            <a:r>
              <a:rPr lang="zh-CN" altLang="zh-CN" sz="1600" b="1"/>
              <a:t>（检索增强生成）</a:t>
            </a:r>
            <a:r>
              <a:rPr lang="zh-CN" altLang="zh-CN" sz="1600"/>
              <a:t> 就是把闭卷考改成开卷考，核心</a:t>
            </a:r>
            <a:r>
              <a:rPr lang="zh-CN" altLang="en-US" sz="1600"/>
              <a:t>分</a:t>
            </a:r>
            <a:r>
              <a:rPr lang="zh-CN" altLang="zh-CN" sz="1600"/>
              <a:t>三步：</a:t>
            </a:r>
          </a:p>
          <a:p>
            <a:pPr lvl="0"/>
            <a:r>
              <a:rPr lang="zh-CN" altLang="zh-CN" sz="1600"/>
              <a:t>检索（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Retrieval</a:t>
            </a:r>
            <a:r>
              <a:rPr lang="zh-CN" altLang="zh-CN" sz="1600"/>
              <a:t>）：拿到问题，先去你给的外部资料库里翻找相关内容。</a:t>
            </a:r>
          </a:p>
          <a:p>
            <a:pPr lvl="0"/>
            <a:r>
              <a:rPr lang="zh-CN" altLang="zh-CN" sz="1600"/>
              <a:t>增强（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Augmentation</a:t>
            </a:r>
            <a:r>
              <a:rPr lang="zh-CN" altLang="zh-CN" sz="1600"/>
              <a:t>）：把捞出来的这几段最新资料作为“参考材料”。</a:t>
            </a:r>
          </a:p>
          <a:p>
            <a:pPr lvl="0"/>
            <a:r>
              <a:rPr lang="zh-CN" altLang="zh-CN" sz="1600"/>
              <a:t>生成（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Generation</a:t>
            </a:r>
            <a:r>
              <a:rPr lang="zh-CN" altLang="zh-CN" sz="1600"/>
              <a:t>）：模型根据参考材料整理出准确的答案。</a:t>
            </a:r>
          </a:p>
          <a:p>
            <a:r>
              <a:rPr lang="zh-CN" altLang="zh-CN" sz="1600" b="1"/>
              <a:t>核心价值：资料有更新</a:t>
            </a:r>
            <a:r>
              <a:rPr lang="zh-CN" altLang="en-US" sz="1600" b="1"/>
              <a:t>直接更新知识库</a:t>
            </a:r>
            <a:r>
              <a:rPr lang="zh-CN" altLang="zh-CN" sz="1600" b="1"/>
              <a:t>，无需花高昂成本重新训练模型，同时彻底压制模型的幻觉胡编。</a:t>
            </a:r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1CFB67C6-748B-CC53-1520-9099738431AA}"/>
              </a:ext>
            </a:extLst>
          </p:cNvPr>
          <p:cNvSpPr/>
          <p:nvPr/>
        </p:nvSpPr>
        <p:spPr>
          <a:xfrm>
            <a:off x="665163" y="2535078"/>
            <a:ext cx="2261339" cy="112356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>
            <a:solidFill>
              <a:srgbClr val="4040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83390DB2-C046-D562-FDAD-D708A30CE1EF}"/>
              </a:ext>
            </a:extLst>
          </p:cNvPr>
          <p:cNvSpPr/>
          <p:nvPr/>
        </p:nvSpPr>
        <p:spPr>
          <a:xfrm>
            <a:off x="957422" y="2625594"/>
            <a:ext cx="237744" cy="237744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7E386E6C-8A36-9110-B939-AE5A05A953BB}"/>
              </a:ext>
            </a:extLst>
          </p:cNvPr>
          <p:cNvSpPr/>
          <p:nvPr/>
        </p:nvSpPr>
        <p:spPr>
          <a:xfrm>
            <a:off x="957422" y="262559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EEA4957A-798A-07E7-C70A-4B07EA24F613}"/>
              </a:ext>
            </a:extLst>
          </p:cNvPr>
          <p:cNvSpPr/>
          <p:nvPr/>
        </p:nvSpPr>
        <p:spPr>
          <a:xfrm>
            <a:off x="1268317" y="2616450"/>
            <a:ext cx="149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</a:t>
            </a:r>
            <a:r>
              <a:rPr lang="en-US" sz="1200" b="1">
                <a:solidFill>
                  <a:srgbClr val="0D0D0D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1200" b="1">
                <a:solidFill>
                  <a:srgbClr val="0D0D0D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arkdown</a:t>
            </a:r>
            <a:r>
              <a:rPr lang="zh-CN" altLang="en-US" sz="1200" b="1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Times New Roman" panose="02020603050405020304" pitchFamily="18" charset="0"/>
              </a:rPr>
              <a:t>层级</a:t>
            </a:r>
            <a:r>
              <a:rPr lang="en-US" sz="1200" b="1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分节</a:t>
            </a:r>
            <a:endParaRPr lang="en-US" sz="12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A1CBFFEE-5D37-10A9-4CB8-C5DA24702326}"/>
              </a:ext>
            </a:extLst>
          </p:cNvPr>
          <p:cNvSpPr/>
          <p:nvPr/>
        </p:nvSpPr>
        <p:spPr>
          <a:xfrm>
            <a:off x="784194" y="2871600"/>
            <a:ext cx="1779697" cy="41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逐级切分：按 # 到 ####（</a:t>
            </a:r>
            <a:r>
              <a:rPr lang="zh-CN" altLang="zh-CN" sz="1200">
                <a:solidFill>
                  <a:srgbClr val="595959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h1~h4</a:t>
            </a:r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）扫</a:t>
            </a:r>
            <a:r>
              <a:rPr lang="zh-CN" altLang="en-US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描</a:t>
            </a:r>
            <a:r>
              <a:rPr lang="en-US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md</a:t>
            </a:r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文档</a:t>
            </a:r>
            <a:endParaRPr lang="en-US" sz="1200" dirty="0">
              <a:solidFill>
                <a:srgbClr val="595959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074B1A8-5F5D-8F9E-E94A-B4ABB5737D5B}"/>
              </a:ext>
            </a:extLst>
          </p:cNvPr>
          <p:cNvSpPr/>
          <p:nvPr/>
        </p:nvSpPr>
        <p:spPr>
          <a:xfrm>
            <a:off x="3292214" y="2535078"/>
            <a:ext cx="2261339" cy="112356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>
            <a:solidFill>
              <a:srgbClr val="4040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29B7C41D-E22A-764A-F8F4-CBA4D823C8CD}"/>
              </a:ext>
            </a:extLst>
          </p:cNvPr>
          <p:cNvSpPr/>
          <p:nvPr/>
        </p:nvSpPr>
        <p:spPr>
          <a:xfrm>
            <a:off x="3771113" y="2625594"/>
            <a:ext cx="237744" cy="237744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BF8AD38-9F40-7CA5-82A4-8D4C376C0675}"/>
              </a:ext>
            </a:extLst>
          </p:cNvPr>
          <p:cNvSpPr/>
          <p:nvPr/>
        </p:nvSpPr>
        <p:spPr>
          <a:xfrm>
            <a:off x="3771113" y="262559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CB99FB0-D390-67B6-4B0F-6FEDFDD39BF5}"/>
              </a:ext>
            </a:extLst>
          </p:cNvPr>
          <p:cNvSpPr/>
          <p:nvPr/>
        </p:nvSpPr>
        <p:spPr>
          <a:xfrm>
            <a:off x="4082009" y="2616450"/>
            <a:ext cx="96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递归切分</a:t>
            </a:r>
            <a:endParaRPr lang="en-US" sz="12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91058FCE-4B7F-7699-CE36-24E32135E12F}"/>
              </a:ext>
            </a:extLst>
          </p:cNvPr>
          <p:cNvSpPr/>
          <p:nvPr/>
        </p:nvSpPr>
        <p:spPr>
          <a:xfrm>
            <a:off x="3359332" y="2797852"/>
            <a:ext cx="2478423" cy="88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段落</a:t>
            </a:r>
            <a:r>
              <a:rPr lang="zh-CN" altLang="en-US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：</a:t>
            </a:r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≤500 字即成块</a:t>
            </a:r>
          </a:p>
          <a:p>
            <a:pPr lvl="0"/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换行</a:t>
            </a:r>
            <a:r>
              <a:rPr lang="zh-CN" altLang="en-US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：</a:t>
            </a:r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单段超长就按行切</a:t>
            </a:r>
          </a:p>
          <a:p>
            <a:pPr lvl="0"/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句号</a:t>
            </a:r>
            <a:r>
              <a:rPr lang="zh-CN" altLang="en-US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：</a:t>
            </a:r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整段无换行按句末标点切</a:t>
            </a:r>
          </a:p>
          <a:p>
            <a:pPr lvl="0"/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逐字</a:t>
            </a:r>
            <a:r>
              <a:rPr lang="zh-CN" altLang="en-US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：</a:t>
            </a:r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标点没有</a:t>
            </a:r>
            <a:r>
              <a:rPr lang="zh-CN" altLang="en-US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则</a:t>
            </a:r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硬切</a:t>
            </a:r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F952BAA3-9507-7C07-C711-FC0BCEB02881}"/>
              </a:ext>
            </a:extLst>
          </p:cNvPr>
          <p:cNvSpPr/>
          <p:nvPr/>
        </p:nvSpPr>
        <p:spPr>
          <a:xfrm>
            <a:off x="5916145" y="2535078"/>
            <a:ext cx="2261339" cy="112356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>
            <a:solidFill>
              <a:srgbClr val="4040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139ABE60-DB67-9ACD-EB9C-557550C7A87E}"/>
              </a:ext>
            </a:extLst>
          </p:cNvPr>
          <p:cNvSpPr/>
          <p:nvPr/>
        </p:nvSpPr>
        <p:spPr>
          <a:xfrm>
            <a:off x="6461633" y="2625594"/>
            <a:ext cx="237744" cy="237744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181D02B9-A1B1-A503-349F-5134B66267BF}"/>
              </a:ext>
            </a:extLst>
          </p:cNvPr>
          <p:cNvSpPr/>
          <p:nvPr/>
        </p:nvSpPr>
        <p:spPr>
          <a:xfrm>
            <a:off x="6461633" y="262559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DA7B9EBE-BB80-3FFD-AD49-98F3771B702A}"/>
              </a:ext>
            </a:extLst>
          </p:cNvPr>
          <p:cNvSpPr/>
          <p:nvPr/>
        </p:nvSpPr>
        <p:spPr>
          <a:xfrm>
            <a:off x="6772529" y="261645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句级重叠</a:t>
            </a:r>
            <a:endParaRPr lang="en-US" sz="1200" dirty="0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14721E87-8FE7-1D34-E4A1-367E57A9B2BB}"/>
              </a:ext>
            </a:extLst>
          </p:cNvPr>
          <p:cNvSpPr/>
          <p:nvPr/>
        </p:nvSpPr>
        <p:spPr>
          <a:xfrm>
            <a:off x="5962092" y="2892537"/>
            <a:ext cx="2261338" cy="625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当一个章节被切成多块，把上一块结尾的完整句（总量 ≤100 字），接到下一块的开头。</a:t>
            </a:r>
            <a:endParaRPr lang="en-US" sz="1200" dirty="0">
              <a:solidFill>
                <a:srgbClr val="595959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E8B826B6-5FCF-9EA4-F0D1-128F3A6F352A}"/>
              </a:ext>
            </a:extLst>
          </p:cNvPr>
          <p:cNvSpPr/>
          <p:nvPr/>
        </p:nvSpPr>
        <p:spPr>
          <a:xfrm>
            <a:off x="8540076" y="2535078"/>
            <a:ext cx="2182729" cy="112356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>
            <a:solidFill>
              <a:srgbClr val="4040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22F25B20-5C16-3BE4-E32E-DF0512B5DCFB}"/>
              </a:ext>
            </a:extLst>
          </p:cNvPr>
          <p:cNvSpPr/>
          <p:nvPr/>
        </p:nvSpPr>
        <p:spPr>
          <a:xfrm>
            <a:off x="9095012" y="2625594"/>
            <a:ext cx="237744" cy="237744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847EDD7A-2F18-06E9-FD06-C12CE4C69F94}"/>
              </a:ext>
            </a:extLst>
          </p:cNvPr>
          <p:cNvSpPr/>
          <p:nvPr/>
        </p:nvSpPr>
        <p:spPr>
          <a:xfrm>
            <a:off x="9095012" y="262559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F29B69E1-586B-AF6B-085E-3B18C3A0413F}"/>
              </a:ext>
            </a:extLst>
          </p:cNvPr>
          <p:cNvSpPr/>
          <p:nvPr/>
        </p:nvSpPr>
        <p:spPr>
          <a:xfrm>
            <a:off x="9405908" y="261645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表格切分</a:t>
            </a:r>
            <a:endParaRPr lang="en-US" sz="1200" dirty="0"/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357425E6-126E-F003-47BB-65E6D37964A6}"/>
              </a:ext>
            </a:extLst>
          </p:cNvPr>
          <p:cNvSpPr/>
          <p:nvPr/>
        </p:nvSpPr>
        <p:spPr>
          <a:xfrm>
            <a:off x="8684455" y="2927816"/>
            <a:ext cx="2348779" cy="49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 10 行按行切</a:t>
            </a:r>
            <a:r>
              <a:rPr lang="en-US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，重贴表头</a:t>
            </a:r>
            <a:r>
              <a:rPr lang="zh-CN" altLang="en-US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endParaRPr lang="en-US" altLang="zh-CN" sz="1200">
              <a:solidFill>
                <a:srgbClr val="59595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保证表格信息不缺失</a:t>
            </a:r>
            <a:endParaRPr lang="en-US" sz="1200" dirty="0"/>
          </a:p>
        </p:txBody>
      </p:sp>
      <p:sp>
        <p:nvSpPr>
          <p:cNvPr id="48" name="副标题 1">
            <a:extLst>
              <a:ext uri="{FF2B5EF4-FFF2-40B4-BE49-F238E27FC236}">
                <a16:creationId xmlns:a16="http://schemas.microsoft.com/office/drawing/2014/main" id="{AA371008-9EFB-7D34-50F3-86DBE92B0EA9}"/>
              </a:ext>
            </a:extLst>
          </p:cNvPr>
          <p:cNvSpPr txBox="1"/>
          <p:nvPr/>
        </p:nvSpPr>
        <p:spPr>
          <a:xfrm>
            <a:off x="301625" y="3821910"/>
            <a:ext cx="4623766" cy="2769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89090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48463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207835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67208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31292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35864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40436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45008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Trunk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知识块形式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A53B6AC-58E3-ABD8-1854-B39C2EC76D80}"/>
              </a:ext>
            </a:extLst>
          </p:cNvPr>
          <p:cNvSpPr txBox="1"/>
          <p:nvPr/>
        </p:nvSpPr>
        <p:spPr>
          <a:xfrm>
            <a:off x="340188" y="4475648"/>
            <a:ext cx="5224898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altLang="zh-CN" sz="1200" spc="26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ategory</a:t>
            </a:r>
            <a:r>
              <a:rPr lang="en-US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spc="26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车载小艺与腕上小艺 （h1）</a:t>
            </a:r>
          </a:p>
          <a:p>
            <a:pPr indent="0" algn="l">
              <a:buNone/>
            </a:pPr>
            <a:r>
              <a:rPr lang="zh-CN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questions = 1. 鸿蒙座舱能力（HarmonySpace / MoLA 架构）</a:t>
            </a:r>
          </a:p>
          <a:p>
            <a:pPr indent="0" algn="l">
              <a:buNone/>
            </a:pPr>
            <a:r>
              <a:rPr lang="zh-CN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answer </a:t>
            </a:r>
            <a:r>
              <a:rPr lang="en-US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 版本 | 要点 |</a:t>
            </a:r>
          </a:p>
          <a:p>
            <a:pPr indent="0" algn="l">
              <a:buNone/>
            </a:pPr>
            <a:r>
              <a:rPr lang="en-US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 鸿蒙座舱 4.0（问界 M9 等） | … |</a:t>
            </a:r>
          </a:p>
          <a:p>
            <a:pPr indent="0" algn="l">
              <a:buNone/>
            </a:pPr>
            <a:r>
              <a:rPr lang="en-US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 鸿蒙座舱 HarmonySpace 6（2026-04-23） | … | （349 字）</a:t>
            </a:r>
          </a:p>
          <a:p>
            <a:pPr indent="0" algn="l">
              <a:buNone/>
            </a:pPr>
            <a:r>
              <a:rPr lang="zh-CN" altLang="zh-CN" sz="12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section_path = 车载小艺与腕上小艺 / 一、车载小艺… / 1. 鸿蒙座舱能力…</a:t>
            </a:r>
            <a:endParaRPr lang="zh-CN" altLang="zh-CN" sz="1200" b="0" i="0" spc="26">
              <a:solidFill>
                <a:srgbClr val="E1E4E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93AC32-577D-4567-F784-115C8A5264AF}"/>
              </a:ext>
            </a:extLst>
          </p:cNvPr>
          <p:cNvSpPr txBox="1"/>
          <p:nvPr/>
        </p:nvSpPr>
        <p:spPr>
          <a:xfrm>
            <a:off x="691298" y="3241547"/>
            <a:ext cx="2261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路径存入 </a:t>
            </a:r>
            <a:r>
              <a:rPr lang="zh-CN" altLang="zh-CN" sz="1200">
                <a:solidFill>
                  <a:srgbClr val="595959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section_path：</a:t>
            </a:r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记</a:t>
            </a:r>
            <a:r>
              <a:rPr lang="zh-CN" altLang="en-US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录</a:t>
            </a:r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从 </a:t>
            </a:r>
            <a:r>
              <a:rPr lang="zh-CN" altLang="zh-CN" sz="1200">
                <a:solidFill>
                  <a:srgbClr val="595959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h1 </a:t>
            </a:r>
            <a:r>
              <a:rPr lang="zh-CN" altLang="zh-CN" sz="120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</a:rPr>
              <a:t>到自己这级的完整链条</a:t>
            </a:r>
            <a:endParaRPr lang="zh-CN" altLang="en-US" sz="1200">
              <a:solidFill>
                <a:srgbClr val="595959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875B2-7951-4E93-0F06-5B0E6996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393C7151-C672-D4A6-CB62-E0A8FE6B2F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65163" y="63230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fld id="{E644F1D8-075D-425C-B135-767E88DACD2B}" type="slidenum">
              <a:rPr lang="zh-CN" altLang="en-US">
                <a:solidFill>
                  <a:srgbClr val="0D0D0D"/>
                </a:solidFill>
                <a:latin typeface="Huawei Sans" panose="020C0503030203020204" pitchFamily="34" charset="0"/>
              </a:rPr>
              <a:t>1</a:t>
            </a:fld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endParaRPr lang="zh-CN" altLang="en-US">
              <a:solidFill>
                <a:srgbClr val="0D0D0D"/>
              </a:solidFill>
              <a:latin typeface="Huawei Sans" panose="020C0503030203020204" pitchFamily="34" charset="0"/>
            </a:endParaRP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4214C104-6089-CCEE-FF38-E0AA157D5371}"/>
              </a:ext>
            </a:extLst>
          </p:cNvPr>
          <p:cNvSpPr txBox="1"/>
          <p:nvPr/>
        </p:nvSpPr>
        <p:spPr>
          <a:xfrm>
            <a:off x="277191" y="71213"/>
            <a:ext cx="2493440" cy="41549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89090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48463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207835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67208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31292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35864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40436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45008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 algn="l" eaLnBrk="1" hangingPunct="1">
              <a:buFont typeface="Arial" panose="020B0604020202020204" pitchFamily="34" charset="0"/>
              <a:buNone/>
            </a:pP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艺知</a:t>
            </a: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识库</a:t>
            </a:r>
            <a:r>
              <a:rPr lang="en-US" altLang="zh-CN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endParaRPr lang="en-US" altLang="zh-CN" sz="27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AC8A41-263D-DAB4-9F06-D0D56BBEF2BB}"/>
              </a:ext>
            </a:extLst>
          </p:cNvPr>
          <p:cNvSpPr txBox="1"/>
          <p:nvPr/>
        </p:nvSpPr>
        <p:spPr>
          <a:xfrm>
            <a:off x="212597" y="562503"/>
            <a:ext cx="116239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双路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并行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召回：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bge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语义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检索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BM25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字面匹配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RRF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加权排名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bge</a:t>
            </a:r>
            <a:r>
              <a:rPr lang="zh-CN" altLang="zh-CN" sz="1600"/>
              <a:t>（向量检索）：把查询和每个块都</a:t>
            </a:r>
            <a:r>
              <a:rPr lang="zh-CN" altLang="en-US" sz="1600"/>
              <a:t>编码</a:t>
            </a:r>
            <a:r>
              <a:rPr lang="zh-CN" altLang="zh-CN" sz="1600"/>
              <a:t>成语义向量再比余弦距离，解决“意思相近但用词不同”的召回。</a:t>
            </a:r>
          </a:p>
          <a:p>
            <a:r>
              <a:rPr lang="zh-CN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BM25（</a:t>
            </a:r>
            <a:r>
              <a:rPr lang="zh-CN" altLang="zh-CN" sz="1600"/>
              <a:t>关键词检索）：先分词再查倒排表，按“稀有词权重高 + 词频和块长归一”打分，解决专有名词字面命中的召回。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86E2E09-07B6-FDE2-FC6C-19DC1AB86825}"/>
              </a:ext>
            </a:extLst>
          </p:cNvPr>
          <p:cNvSpPr/>
          <p:nvPr/>
        </p:nvSpPr>
        <p:spPr>
          <a:xfrm>
            <a:off x="3842004" y="1639321"/>
            <a:ext cx="42976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4040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1173FDA-36A1-56F1-6F98-1D733BFC137C}"/>
              </a:ext>
            </a:extLst>
          </p:cNvPr>
          <p:cNvSpPr/>
          <p:nvPr/>
        </p:nvSpPr>
        <p:spPr>
          <a:xfrm>
            <a:off x="4006596" y="1749049"/>
            <a:ext cx="256032" cy="256032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D:\study\xiaoyi\ppt_build\icons\search.png">
            <a:extLst>
              <a:ext uri="{FF2B5EF4-FFF2-40B4-BE49-F238E27FC236}">
                <a16:creationId xmlns:a16="http://schemas.microsoft.com/office/drawing/2014/main" id="{4A6C5DCD-6214-782A-1F45-AC4C41033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802" y="1800255"/>
            <a:ext cx="153619" cy="153619"/>
          </a:xfrm>
          <a:prstGeom prst="rect">
            <a:avLst/>
          </a:prstGeom>
        </p:spPr>
      </p:pic>
      <p:sp>
        <p:nvSpPr>
          <p:cNvPr id="17" name="Text 6">
            <a:extLst>
              <a:ext uri="{FF2B5EF4-FFF2-40B4-BE49-F238E27FC236}">
                <a16:creationId xmlns:a16="http://schemas.microsoft.com/office/drawing/2014/main" id="{74266219-106F-A356-ED1D-269D3990848D}"/>
              </a:ext>
            </a:extLst>
          </p:cNvPr>
          <p:cNvSpPr/>
          <p:nvPr/>
        </p:nvSpPr>
        <p:spPr>
          <a:xfrm>
            <a:off x="4655820" y="16393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「问界 M9 的车载小艺有哪些能力？」</a:t>
            </a:r>
            <a:endParaRPr lang="en-US" sz="12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99E9870C-C9F8-FF74-2A7F-80FD60298AA0}"/>
              </a:ext>
            </a:extLst>
          </p:cNvPr>
          <p:cNvSpPr/>
          <p:nvPr/>
        </p:nvSpPr>
        <p:spPr>
          <a:xfrm flipH="1">
            <a:off x="3009900" y="2114809"/>
            <a:ext cx="2980944" cy="346766"/>
          </a:xfrm>
          <a:prstGeom prst="line">
            <a:avLst/>
          </a:prstGeom>
          <a:noFill/>
          <a:ln w="2222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AEE0A329-BC2E-E0F5-4A06-998482489DB4}"/>
              </a:ext>
            </a:extLst>
          </p:cNvPr>
          <p:cNvSpPr/>
          <p:nvPr/>
        </p:nvSpPr>
        <p:spPr>
          <a:xfrm>
            <a:off x="5990844" y="2114809"/>
            <a:ext cx="2825496" cy="310191"/>
          </a:xfrm>
          <a:prstGeom prst="line">
            <a:avLst/>
          </a:prstGeom>
          <a:noFill/>
          <a:ln w="2222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33BEF6E2-DCDF-4EEC-DD7F-57A67BDE349D}"/>
              </a:ext>
            </a:extLst>
          </p:cNvPr>
          <p:cNvSpPr/>
          <p:nvPr/>
        </p:nvSpPr>
        <p:spPr>
          <a:xfrm>
            <a:off x="445008" y="2461576"/>
            <a:ext cx="5440680" cy="1591341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>
            <a:solidFill>
              <a:srgbClr val="4040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9C36DCC0-5C2D-4EC5-7B9A-D2C9C2210E43}"/>
              </a:ext>
            </a:extLst>
          </p:cNvPr>
          <p:cNvSpPr/>
          <p:nvPr/>
        </p:nvSpPr>
        <p:spPr>
          <a:xfrm>
            <a:off x="659892" y="2576214"/>
            <a:ext cx="384048" cy="384048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1" descr="D:\study\xiaoyi\ppt_build\icons\brain.png">
            <a:extLst>
              <a:ext uri="{FF2B5EF4-FFF2-40B4-BE49-F238E27FC236}">
                <a16:creationId xmlns:a16="http://schemas.microsoft.com/office/drawing/2014/main" id="{C72E36A2-E45F-5A56-2D8E-A1BCEFB9F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03" y="2662625"/>
            <a:ext cx="211226" cy="211226"/>
          </a:xfrm>
          <a:prstGeom prst="rect">
            <a:avLst/>
          </a:prstGeom>
        </p:spPr>
      </p:pic>
      <p:sp>
        <p:nvSpPr>
          <p:cNvPr id="41" name="Text 11">
            <a:extLst>
              <a:ext uri="{FF2B5EF4-FFF2-40B4-BE49-F238E27FC236}">
                <a16:creationId xmlns:a16="http://schemas.microsoft.com/office/drawing/2014/main" id="{3052EC89-2319-E4D2-5019-026C3124FE3D}"/>
              </a:ext>
            </a:extLst>
          </p:cNvPr>
          <p:cNvSpPr/>
          <p:nvPr/>
        </p:nvSpPr>
        <p:spPr>
          <a:xfrm>
            <a:off x="1153668" y="259450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bge-m3 </a:t>
            </a:r>
            <a:r>
              <a:rPr lang="en-US" sz="1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</a:t>
            </a:r>
            <a:endParaRPr lang="en-US" sz="1400" dirty="0"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4791C405-A111-6644-CF4F-3C713C60BDD9}"/>
              </a:ext>
            </a:extLst>
          </p:cNvPr>
          <p:cNvSpPr/>
          <p:nvPr/>
        </p:nvSpPr>
        <p:spPr>
          <a:xfrm>
            <a:off x="4802124" y="2631078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1441B8EA-C4AA-0775-250E-1A8C0C15E8E3}"/>
              </a:ext>
            </a:extLst>
          </p:cNvPr>
          <p:cNvSpPr/>
          <p:nvPr/>
        </p:nvSpPr>
        <p:spPr>
          <a:xfrm>
            <a:off x="4802124" y="2631078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语义相似</a:t>
            </a:r>
            <a:endParaRPr lang="en-US" sz="12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3C37C9C3-57F7-DD4E-697C-2C292D67165E}"/>
              </a:ext>
            </a:extLst>
          </p:cNvPr>
          <p:cNvSpPr/>
          <p:nvPr/>
        </p:nvSpPr>
        <p:spPr>
          <a:xfrm>
            <a:off x="659892" y="2976586"/>
            <a:ext cx="5122164" cy="1017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</a:t>
            </a:r>
            <a:r>
              <a:rPr lang="en-US" sz="1200">
                <a:solidFill>
                  <a:srgbClr val="262626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BAAI/bge-m3 · 1024</a:t>
            </a:r>
            <a:r>
              <a:rPr lang="zh-CN" alt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，将文本编码为</a:t>
            </a:r>
            <a:r>
              <a:rPr lang="en-US" altLang="zh-CN" sz="1200">
                <a:solidFill>
                  <a:srgbClr val="262626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1024</a:t>
            </a:r>
            <a:r>
              <a:rPr lang="zh-CN" altLang="en-US" sz="1200">
                <a:solidFill>
                  <a:srgbClr val="262626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维</a:t>
            </a:r>
            <a:r>
              <a:rPr lang="zh-CN" alt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嵌入内容：</a:t>
            </a:r>
            <a:r>
              <a:rPr lang="en-US" sz="1200" dirty="0">
                <a:solidFill>
                  <a:srgbClr val="262626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category + questions + answer </a:t>
            </a:r>
            <a:r>
              <a:rPr 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整块编码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强项：</a:t>
            </a:r>
            <a:r>
              <a:rPr 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意思相近就能召回 ——「</a:t>
            </a:r>
            <a:r>
              <a:rPr lang="zh-CN" alt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车载小艺有什么能力</a:t>
            </a:r>
            <a:r>
              <a:rPr 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」≈「</a:t>
            </a:r>
            <a:r>
              <a:rPr lang="zh-CN" alt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车载小艺：</a:t>
            </a:r>
            <a:r>
              <a:rPr 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鸿蒙座舱」</a:t>
            </a:r>
            <a:endParaRPr lang="en-US" sz="120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ECE44CB6-F9E0-482C-7000-4440EB39EDED}"/>
              </a:ext>
            </a:extLst>
          </p:cNvPr>
          <p:cNvSpPr/>
          <p:nvPr/>
        </p:nvSpPr>
        <p:spPr>
          <a:xfrm>
            <a:off x="6096000" y="2461576"/>
            <a:ext cx="5440680" cy="1591341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>
            <a:solidFill>
              <a:srgbClr val="4040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22BD7414-161F-84B6-0B14-1EAA04D2F514}"/>
              </a:ext>
            </a:extLst>
          </p:cNvPr>
          <p:cNvSpPr/>
          <p:nvPr/>
        </p:nvSpPr>
        <p:spPr>
          <a:xfrm>
            <a:off x="6297168" y="2576214"/>
            <a:ext cx="384048" cy="384048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8" name="Image 2" descr="D:\study\xiaoyi\ppt_build\icons\hash.png">
            <a:extLst>
              <a:ext uri="{FF2B5EF4-FFF2-40B4-BE49-F238E27FC236}">
                <a16:creationId xmlns:a16="http://schemas.microsoft.com/office/drawing/2014/main" id="{C43493E6-E145-2CF3-2461-293699CCB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579" y="2662625"/>
            <a:ext cx="211226" cy="211226"/>
          </a:xfrm>
          <a:prstGeom prst="rect">
            <a:avLst/>
          </a:prstGeom>
        </p:spPr>
      </p:pic>
      <p:sp>
        <p:nvSpPr>
          <p:cNvPr id="60" name="Text 17">
            <a:extLst>
              <a:ext uri="{FF2B5EF4-FFF2-40B4-BE49-F238E27FC236}">
                <a16:creationId xmlns:a16="http://schemas.microsoft.com/office/drawing/2014/main" id="{2847A4B1-4110-C261-9A0B-806A71FE11CF}"/>
              </a:ext>
            </a:extLst>
          </p:cNvPr>
          <p:cNvSpPr/>
          <p:nvPr/>
        </p:nvSpPr>
        <p:spPr>
          <a:xfrm>
            <a:off x="6790944" y="259450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关键词检索</a:t>
            </a:r>
            <a:endParaRPr lang="en-US" sz="1400" dirty="0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B71FD11E-0B36-ABA9-2271-649336F4499D}"/>
              </a:ext>
            </a:extLst>
          </p:cNvPr>
          <p:cNvSpPr/>
          <p:nvPr/>
        </p:nvSpPr>
        <p:spPr>
          <a:xfrm>
            <a:off x="10439400" y="2631078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600" name="Text 19">
            <a:extLst>
              <a:ext uri="{FF2B5EF4-FFF2-40B4-BE49-F238E27FC236}">
                <a16:creationId xmlns:a16="http://schemas.microsoft.com/office/drawing/2014/main" id="{201A0173-CC24-C1F5-8062-9C0D0810B3FF}"/>
              </a:ext>
            </a:extLst>
          </p:cNvPr>
          <p:cNvSpPr/>
          <p:nvPr/>
        </p:nvSpPr>
        <p:spPr>
          <a:xfrm>
            <a:off x="10439400" y="2631078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字面匹配</a:t>
            </a:r>
            <a:endParaRPr lang="en-US" sz="1200" dirty="0"/>
          </a:p>
        </p:txBody>
      </p:sp>
      <p:sp>
        <p:nvSpPr>
          <p:cNvPr id="25603" name="Text 20">
            <a:extLst>
              <a:ext uri="{FF2B5EF4-FFF2-40B4-BE49-F238E27FC236}">
                <a16:creationId xmlns:a16="http://schemas.microsoft.com/office/drawing/2014/main" id="{A3EC8BB5-DFCC-6102-D661-7D1A6F75DF8C}"/>
              </a:ext>
            </a:extLst>
          </p:cNvPr>
          <p:cNvSpPr/>
          <p:nvPr/>
        </p:nvSpPr>
        <p:spPr>
          <a:xfrm>
            <a:off x="6321552" y="2864022"/>
            <a:ext cx="4983480" cy="1136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分词：中文二元组「车载/载小/小艺」+ </a:t>
            </a:r>
            <a:r>
              <a:rPr 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英文数字整词（</a:t>
            </a:r>
            <a:r>
              <a:rPr lang="en-US" sz="1200" dirty="0">
                <a:solidFill>
                  <a:srgbClr val="262626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m9</a:t>
            </a:r>
            <a:r>
              <a:rPr 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索引：倒排表 </a:t>
            </a:r>
            <a:r>
              <a:rPr 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万词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强项：「</a:t>
            </a:r>
            <a:r>
              <a:rPr 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问界 </a:t>
            </a:r>
            <a:r>
              <a:rPr lang="en-US" sz="1200">
                <a:solidFill>
                  <a:srgbClr val="262626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M9</a:t>
            </a:r>
            <a:r>
              <a:rPr 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」「</a:t>
            </a:r>
            <a:r>
              <a:rPr lang="en-US" sz="1200" dirty="0">
                <a:solidFill>
                  <a:srgbClr val="262626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HarmonySpace</a:t>
            </a:r>
            <a:r>
              <a:rPr 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精确命中</a:t>
            </a:r>
            <a:r>
              <a:rPr 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，稀有词</a:t>
            </a:r>
            <a:r>
              <a:rPr lang="zh-CN" altLang="en-US" sz="120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增加权重</a:t>
            </a:r>
            <a:endParaRPr lang="en-US" sz="1200" dirty="0"/>
          </a:p>
        </p:txBody>
      </p:sp>
      <p:sp>
        <p:nvSpPr>
          <p:cNvPr id="25605" name="Shape 21">
            <a:extLst>
              <a:ext uri="{FF2B5EF4-FFF2-40B4-BE49-F238E27FC236}">
                <a16:creationId xmlns:a16="http://schemas.microsoft.com/office/drawing/2014/main" id="{0B042B19-BE94-0ACE-F9B8-9D7D55EF4B66}"/>
              </a:ext>
            </a:extLst>
          </p:cNvPr>
          <p:cNvSpPr/>
          <p:nvPr/>
        </p:nvSpPr>
        <p:spPr>
          <a:xfrm>
            <a:off x="3009900" y="4076043"/>
            <a:ext cx="2980944" cy="428241"/>
          </a:xfrm>
          <a:prstGeom prst="line">
            <a:avLst/>
          </a:prstGeom>
          <a:noFill/>
          <a:ln w="2222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607" name="Shape 22">
            <a:extLst>
              <a:ext uri="{FF2B5EF4-FFF2-40B4-BE49-F238E27FC236}">
                <a16:creationId xmlns:a16="http://schemas.microsoft.com/office/drawing/2014/main" id="{8462D7D3-17CF-7C9E-F47A-D77486E9014E}"/>
              </a:ext>
            </a:extLst>
          </p:cNvPr>
          <p:cNvSpPr/>
          <p:nvPr/>
        </p:nvSpPr>
        <p:spPr>
          <a:xfrm flipH="1">
            <a:off x="5999610" y="4059623"/>
            <a:ext cx="2880738" cy="444661"/>
          </a:xfrm>
          <a:prstGeom prst="line">
            <a:avLst/>
          </a:prstGeom>
          <a:noFill/>
          <a:ln w="2222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609" name="Shape 23">
            <a:extLst>
              <a:ext uri="{FF2B5EF4-FFF2-40B4-BE49-F238E27FC236}">
                <a16:creationId xmlns:a16="http://schemas.microsoft.com/office/drawing/2014/main" id="{27DCECF6-DAFF-92F3-C73E-25A50D044B73}"/>
              </a:ext>
            </a:extLst>
          </p:cNvPr>
          <p:cNvSpPr/>
          <p:nvPr/>
        </p:nvSpPr>
        <p:spPr>
          <a:xfrm>
            <a:off x="2438400" y="4504285"/>
            <a:ext cx="7315200" cy="146451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solidFill>
              <a:srgbClr val="4040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611" name="Shape 24">
            <a:extLst>
              <a:ext uri="{FF2B5EF4-FFF2-40B4-BE49-F238E27FC236}">
                <a16:creationId xmlns:a16="http://schemas.microsoft.com/office/drawing/2014/main" id="{BAA77911-19BE-D9EF-EB34-6F173A2D9308}"/>
              </a:ext>
            </a:extLst>
          </p:cNvPr>
          <p:cNvSpPr/>
          <p:nvPr/>
        </p:nvSpPr>
        <p:spPr>
          <a:xfrm>
            <a:off x="2621280" y="4588179"/>
            <a:ext cx="365760" cy="365760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613" name="Image 3" descr="D:\study\xiaoyi\ppt_build\icons\branch.png">
            <a:extLst>
              <a:ext uri="{FF2B5EF4-FFF2-40B4-BE49-F238E27FC236}">
                <a16:creationId xmlns:a16="http://schemas.microsoft.com/office/drawing/2014/main" id="{551E5457-A3E5-3364-091C-2339697D75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3576" y="4670475"/>
            <a:ext cx="201168" cy="201168"/>
          </a:xfrm>
          <a:prstGeom prst="rect">
            <a:avLst/>
          </a:prstGeom>
        </p:spPr>
      </p:pic>
      <p:sp>
        <p:nvSpPr>
          <p:cNvPr id="25615" name="Text 25">
            <a:extLst>
              <a:ext uri="{FF2B5EF4-FFF2-40B4-BE49-F238E27FC236}">
                <a16:creationId xmlns:a16="http://schemas.microsoft.com/office/drawing/2014/main" id="{9539C954-98B8-E4F8-8ACB-03EA217E94A4}"/>
              </a:ext>
            </a:extLst>
          </p:cNvPr>
          <p:cNvSpPr/>
          <p:nvPr/>
        </p:nvSpPr>
        <p:spPr>
          <a:xfrm>
            <a:off x="3115056" y="459572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RRF 融合 · 只看排名，不比分数</a:t>
            </a:r>
            <a:endParaRPr lang="en-US" sz="1250" dirty="0"/>
          </a:p>
        </p:txBody>
      </p:sp>
      <p:sp>
        <p:nvSpPr>
          <p:cNvPr id="25619" name="Text 27">
            <a:extLst>
              <a:ext uri="{FF2B5EF4-FFF2-40B4-BE49-F238E27FC236}">
                <a16:creationId xmlns:a16="http://schemas.microsoft.com/office/drawing/2014/main" id="{86736054-4B7A-348C-C4A4-9D2807B8347B}"/>
              </a:ext>
            </a:extLst>
          </p:cNvPr>
          <p:cNvSpPr/>
          <p:nvPr/>
        </p:nvSpPr>
        <p:spPr>
          <a:xfrm>
            <a:off x="7083552" y="459572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score(d) = Σ 1/(60 + rank)</a:t>
            </a:r>
            <a:endParaRPr lang="en-US" sz="11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EE41BA-A651-552C-8772-14AAF0B971E1}"/>
              </a:ext>
            </a:extLst>
          </p:cNvPr>
          <p:cNvSpPr txBox="1"/>
          <p:nvPr/>
        </p:nvSpPr>
        <p:spPr>
          <a:xfrm>
            <a:off x="2522219" y="4953136"/>
            <a:ext cx="73051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/>
              <a:t>向量检索给出的是</a:t>
            </a:r>
            <a:r>
              <a:rPr lang="zh-CN" altLang="zh-CN" sz="1200" b="1"/>
              <a:t>余弦相似度</a:t>
            </a:r>
            <a:r>
              <a:rPr lang="zh-CN" altLang="zh-CN" sz="1200"/>
              <a:t>，取值范围是 -1 到 1；</a:t>
            </a:r>
            <a:r>
              <a:rPr lang="zh-CN" altLang="zh-CN" sz="1200">
                <a:solidFill>
                  <a:srgbClr val="262626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BM25 </a:t>
            </a:r>
            <a:r>
              <a:rPr lang="zh-CN" altLang="zh-CN" sz="1200"/>
              <a:t>给出的打分数值范围，可能是几分，也可能是十几分。两套分数量纲不同，直接相加没有道理。</a:t>
            </a:r>
            <a:endParaRPr lang="en-US" altLang="zh-CN" sz="1200"/>
          </a:p>
          <a:p>
            <a:pPr>
              <a:buNone/>
            </a:pPr>
            <a:endParaRPr lang="en-US" altLang="zh-CN" sz="1200"/>
          </a:p>
          <a:p>
            <a:r>
              <a:rPr lang="zh-CN" altLang="zh-CN" sz="1200" b="1"/>
              <a:t>「</a:t>
            </a:r>
            <a:r>
              <a:rPr lang="zh-CN" altLang="zh-CN" sz="1200" b="1">
                <a:solidFill>
                  <a:srgbClr val="262626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RRF</a:t>
            </a:r>
            <a:r>
              <a:rPr lang="zh-CN" altLang="zh-CN" sz="1200" b="1"/>
              <a:t>」倒数排名融合</a:t>
            </a:r>
            <a:r>
              <a:rPr lang="zh-CN" altLang="zh-CN" sz="1200"/>
              <a:t>：不比分数，只比排名。每份文档在每条排序里贡献 1/(</a:t>
            </a:r>
            <a:r>
              <a:rPr lang="zh-CN" altLang="zh-CN" sz="1200">
                <a:solidFill>
                  <a:srgbClr val="262626"/>
                </a:solidFill>
                <a:latin typeface="Times New Roman" panose="02020603050405020304" pitchFamily="18" charset="0"/>
                <a:ea typeface="Microsoft YaHei" pitchFamily="34" charset="-122"/>
                <a:cs typeface="Times New Roman" panose="02020603050405020304" pitchFamily="18" charset="0"/>
              </a:rPr>
              <a:t>k</a:t>
            </a:r>
            <a:r>
              <a:rPr lang="zh-CN" altLang="zh-CN" sz="1200"/>
              <a:t>+排名) ，两条路径的排名</a:t>
            </a:r>
            <a:r>
              <a:rPr lang="zh-CN" altLang="en-US" sz="1200"/>
              <a:t>相加</a:t>
            </a:r>
            <a:r>
              <a:rPr lang="zh-CN" altLang="zh-CN" sz="1200"/>
              <a:t>，</a:t>
            </a:r>
            <a:r>
              <a:rPr lang="zh-CN" altLang="en-US" sz="1200"/>
              <a:t>解决不同量纲间的排序</a:t>
            </a:r>
            <a:r>
              <a:rPr lang="zh-CN" altLang="zh-CN" sz="120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2365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23D64-3A60-FF99-A50C-A2E1003D4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2BC0FE27-CB24-D50D-0628-2C1CC9411AB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65163" y="63230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fld id="{E644F1D8-075D-425C-B135-767E88DACD2B}" type="slidenum">
              <a:rPr lang="zh-CN" altLang="en-US">
                <a:solidFill>
                  <a:srgbClr val="0D0D0D"/>
                </a:solidFill>
                <a:latin typeface="Huawei Sans" panose="020C0503030203020204" pitchFamily="34" charset="0"/>
              </a:rPr>
              <a:t>2</a:t>
            </a:fld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endParaRPr lang="zh-CN" altLang="en-US">
              <a:solidFill>
                <a:srgbClr val="0D0D0D"/>
              </a:solidFill>
              <a:latin typeface="Huawei Sans" panose="020C0503030203020204" pitchFamily="34" charset="0"/>
            </a:endParaRP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271D3D90-3365-2AFA-3329-BE33C1F11775}"/>
              </a:ext>
            </a:extLst>
          </p:cNvPr>
          <p:cNvSpPr txBox="1"/>
          <p:nvPr/>
        </p:nvSpPr>
        <p:spPr>
          <a:xfrm>
            <a:off x="204788" y="77142"/>
            <a:ext cx="2493440" cy="41549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89090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48463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207835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67208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31292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35864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40436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45008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 algn="l" eaLnBrk="1" hangingPunct="1">
              <a:buFont typeface="Arial" panose="020B0604020202020204" pitchFamily="34" charset="0"/>
              <a:buNone/>
            </a:pP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艺知</a:t>
            </a: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识库</a:t>
            </a:r>
            <a:r>
              <a:rPr lang="en-US" altLang="zh-CN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endParaRPr lang="en-US" altLang="zh-CN" sz="27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FDB769-69AC-B317-07AC-4021F48DF859}"/>
              </a:ext>
            </a:extLst>
          </p:cNvPr>
          <p:cNvSpPr txBox="1"/>
          <p:nvPr/>
        </p:nvSpPr>
        <p:spPr>
          <a:xfrm>
            <a:off x="178594" y="477066"/>
            <a:ext cx="118348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Rerank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精排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双路并行召回已经把相关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chunk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都查到了</a:t>
            </a:r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读不懂这些候选块里谁才真正回答了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Query</a:t>
            </a:r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，这是粗排的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上限</a:t>
            </a:r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精排要解决的正是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这个局限，它</a:t>
            </a:r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把 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Query</a:t>
            </a:r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相关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Trunk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逐个拼接成对</a:t>
            </a:r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送进模型，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让模型判断</a:t>
            </a:r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更深的语义关联。</a:t>
            </a:r>
          </a:p>
        </p:txBody>
      </p:sp>
      <p:sp>
        <p:nvSpPr>
          <p:cNvPr id="25611" name="TextBox 25610"/>
          <p:cNvSpPr txBox="1"/>
          <p:nvPr/>
        </p:nvSpPr>
        <p:spPr>
          <a:xfrm>
            <a:off x="274321" y="1338840"/>
            <a:ext cx="409879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为什么 Reranker 更懂「是否对题」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612" name="Rounded Rectangle 25611"/>
          <p:cNvSpPr/>
          <p:nvPr/>
        </p:nvSpPr>
        <p:spPr>
          <a:xfrm>
            <a:off x="329185" y="1718188"/>
            <a:ext cx="33766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400" b="1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联合编码打分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Query 与候选块</a:t>
            </a:r>
            <a:r>
              <a:rPr lang="zh-CN" altLang="en-US" sz="1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成对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输入送进模型，让</a:t>
            </a:r>
            <a:r>
              <a:rPr lang="en-US"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Q</a:t>
            </a:r>
            <a:r>
              <a:rPr lang="en-US" altLang="zh-CN"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uery</a:t>
            </a:r>
            <a:r>
              <a:rPr lang="zh-CN" altLang="en-US"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lang="en-US" altLang="zh-CN"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Chunk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充分交互后再打相关分</a:t>
            </a:r>
            <a:r>
              <a:rPr lang="zh-CN" altLang="en-US" sz="1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，比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各自编码再算距离的粗排</a:t>
            </a:r>
            <a:r>
              <a:rPr lang="zh-CN" altLang="en-US"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理解性更强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5613" name="Rounded Rectangle 25612"/>
          <p:cNvSpPr/>
          <p:nvPr/>
        </p:nvSpPr>
        <p:spPr>
          <a:xfrm>
            <a:off x="4108991" y="1707278"/>
            <a:ext cx="337661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400" b="1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阈值严格把关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精排最高分低于 0.3 即判「证据不足」，宁缺毋滥不硬答</a:t>
            </a:r>
          </a:p>
        </p:txBody>
      </p:sp>
      <p:sp>
        <p:nvSpPr>
          <p:cNvPr id="25614" name="Rounded Rectangle 25613"/>
          <p:cNvSpPr/>
          <p:nvPr/>
        </p:nvSpPr>
        <p:spPr>
          <a:xfrm>
            <a:off x="7888797" y="1703123"/>
            <a:ext cx="359359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400" b="1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证据可溯源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输出的每条证据都带小节路径、来源文件，注入大模型上下文后综合作答，每句话能</a:t>
            </a:r>
            <a:r>
              <a:rPr lang="zh-CN" altLang="en-US"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溯源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出处。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20F6A0-2CBF-67D8-838F-6612052859FC}"/>
              </a:ext>
            </a:extLst>
          </p:cNvPr>
          <p:cNvSpPr txBox="1"/>
          <p:nvPr/>
        </p:nvSpPr>
        <p:spPr>
          <a:xfrm>
            <a:off x="204788" y="3099844"/>
            <a:ext cx="58216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altLang="zh-CN" sz="1600" b="1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r>
              <a:rPr lang="zh-CN" altLang="en-US" sz="1600" b="1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代码逻辑：</a:t>
            </a:r>
            <a:r>
              <a:rPr lang="en-US" altLang="zh-CN" sz="1600" b="1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600" b="1" spc="26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1600" b="1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离线建库</a:t>
            </a:r>
            <a:endParaRPr lang="en-US" altLang="zh-CN" sz="1600" b="1" i="0" spc="26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buNone/>
            </a:pPr>
            <a:endParaRPr lang="en-US" altLang="zh-CN" sz="1600" spc="26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buNone/>
            </a:pPr>
            <a:endParaRPr lang="en-US" altLang="zh-CN" sz="1600" b="0" i="0" spc="26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buNone/>
            </a:pPr>
            <a:r>
              <a:rPr lang="zh-CN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build_index.py (CLI)</a:t>
            </a:r>
          </a:p>
          <a:p>
            <a:pPr indent="0" algn="l">
              <a:buNone/>
            </a:pPr>
            <a:r>
              <a:rPr lang="zh-CN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└─ localstore.build()</a:t>
            </a:r>
          </a:p>
          <a:p>
            <a:pPr indent="0" algn="l">
              <a:buNone/>
            </a:pPr>
            <a:r>
              <a:rPr lang="zh-CN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├─ sources.py 扫描 data/*.md</a:t>
            </a:r>
          </a:p>
          <a:p>
            <a:pPr indent="0" algn="l">
              <a:buNone/>
            </a:pPr>
            <a:r>
              <a:rPr lang="zh-CN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├─ documents.py 小节 → 结构化 Chunk</a:t>
            </a:r>
          </a:p>
          <a:p>
            <a:pPr indent="0" algn="l">
              <a:buNone/>
            </a:pPr>
            <a:r>
              <a:rPr lang="zh-CN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└─ chunking.py 分节 / 递归切分 / 句级重叠 / 表格切分</a:t>
            </a:r>
          </a:p>
          <a:p>
            <a:pPr indent="0" algn="l">
              <a:buNone/>
            </a:pPr>
            <a:r>
              <a:rPr lang="zh-CN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├─ embeddings.py 调 bge-m3 生成向量</a:t>
            </a:r>
            <a:r>
              <a:rPr lang="en-US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BM</a:t>
            </a:r>
            <a:r>
              <a:rPr lang="zh-CN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分词</a:t>
            </a:r>
            <a:r>
              <a:rPr lang="zh-CN" altLang="en-US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生成倒排索引</a:t>
            </a:r>
            <a:r>
              <a:rPr lang="zh-CN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0" algn="l">
              <a:buNone/>
            </a:pPr>
            <a:r>
              <a:rPr lang="zh-CN" altLang="zh-CN" sz="1600" b="0" i="0" spc="26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└─ _save() 写出 index/rag_index.json.gz</a:t>
            </a:r>
            <a:endParaRPr lang="zh-CN" altLang="zh-CN" sz="1600" b="0" i="0" spc="26">
              <a:solidFill>
                <a:srgbClr val="E1E4E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6F0B82C-916D-AE17-B72F-A68E0C689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661" y="2884008"/>
            <a:ext cx="5953956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13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48E1F-EBF4-2D1D-8533-4B24E924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5442294E-F8E7-8D48-6869-01813E413A0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65163" y="63230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fld id="{E644F1D8-075D-425C-B135-767E88DACD2B}" type="slidenum">
              <a:rPr lang="zh-CN" altLang="en-US">
                <a:solidFill>
                  <a:srgbClr val="0D0D0D"/>
                </a:solidFill>
                <a:latin typeface="Huawei Sans" panose="020C0503030203020204" pitchFamily="34" charset="0"/>
              </a:rPr>
              <a:t>3</a:t>
            </a:fld>
            <a:r>
              <a:rPr lang="en-US" altLang="zh-CN">
                <a:solidFill>
                  <a:srgbClr val="0D0D0D"/>
                </a:solidFill>
                <a:latin typeface="Huawei Sans" panose="020C0503030203020204" pitchFamily="34" charset="0"/>
              </a:rPr>
              <a:t>-</a:t>
            </a:r>
            <a:endParaRPr lang="zh-CN" altLang="en-US">
              <a:solidFill>
                <a:srgbClr val="0D0D0D"/>
              </a:solidFill>
              <a:latin typeface="Huawei Sans" panose="020C0503030203020204" pitchFamily="34" charset="0"/>
            </a:endParaRP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35C7A6E1-BC7E-6606-6DF7-ED7BFA52D412}"/>
              </a:ext>
            </a:extLst>
          </p:cNvPr>
          <p:cNvSpPr txBox="1"/>
          <p:nvPr/>
        </p:nvSpPr>
        <p:spPr>
          <a:xfrm>
            <a:off x="204788" y="77142"/>
            <a:ext cx="2493440" cy="41549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1pPr>
            <a:lvl2pPr marL="89090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2pPr>
            <a:lvl3pPr marL="148463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3pPr>
            <a:lvl4pPr marL="2078355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4pPr>
            <a:lvl5pPr marL="2672080" indent="-297180" defTabSz="1186180"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5pPr>
            <a:lvl6pPr marL="31292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6pPr>
            <a:lvl7pPr marL="35864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7pPr>
            <a:lvl8pPr marL="40436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8pPr>
            <a:lvl9pPr marL="4500880" indent="-297180" defTabSz="1186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defRPr>
            </a:lvl9pPr>
          </a:lstStyle>
          <a:p>
            <a:pPr algn="l" eaLnBrk="1" hangingPunct="1">
              <a:buFont typeface="Arial" panose="020B0604020202020204" pitchFamily="34" charset="0"/>
              <a:buNone/>
            </a:pP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艺知</a:t>
            </a: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识库</a:t>
            </a:r>
            <a:r>
              <a:rPr lang="en-US" altLang="zh-CN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endParaRPr lang="en-US" altLang="zh-CN" sz="27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59234E-EF23-E6A4-8919-4C2D43D3517F}"/>
              </a:ext>
            </a:extLst>
          </p:cNvPr>
          <p:cNvSpPr txBox="1"/>
          <p:nvPr/>
        </p:nvSpPr>
        <p:spPr>
          <a:xfrm>
            <a:off x="204788" y="604294"/>
            <a:ext cx="55673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spc="26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r>
              <a:rPr lang="zh-CN" altLang="en-US" sz="1600" b="1" spc="26">
                <a:latin typeface="Times New Roman" panose="02020603050405020304" pitchFamily="18" charset="0"/>
                <a:cs typeface="Times New Roman" panose="02020603050405020304" pitchFamily="18" charset="0"/>
              </a:rPr>
              <a:t>代码逻辑：</a:t>
            </a:r>
            <a:r>
              <a:rPr lang="en-US" altLang="zh-CN" sz="1600" b="1" spc="26">
                <a:latin typeface="Times New Roman" panose="02020603050405020304" pitchFamily="18" charset="0"/>
                <a:cs typeface="Times New Roman" panose="02020603050405020304" pitchFamily="18" charset="0"/>
              </a:rPr>
              <a:t>2.Query</a:t>
            </a:r>
            <a:r>
              <a:rPr lang="zh-CN" altLang="en-US" sz="1600" b="1" spc="26">
                <a:latin typeface="Times New Roman" panose="02020603050405020304" pitchFamily="18" charset="0"/>
                <a:cs typeface="Times New Roman" panose="02020603050405020304" pitchFamily="18" charset="0"/>
              </a:rPr>
              <a:t>问答</a:t>
            </a:r>
            <a:endParaRPr lang="en-US" altLang="zh-CN" sz="1600" b="1" spc="26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buNone/>
            </a:pPr>
            <a:endParaRPr lang="en-US" altLang="zh-CN" sz="1600" spc="26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api.rag_search()（检索封装 ）</a:t>
            </a:r>
          </a:p>
          <a:p>
            <a:r>
              <a:rPr lang="zh-CN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├─ localstore.load() 读缓存索引 </a:t>
            </a:r>
          </a:p>
          <a:p>
            <a:r>
              <a:rPr lang="zh-CN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├─ retrieval.search_knowledge() 双路</a:t>
            </a:r>
            <a:r>
              <a:rPr lang="zh-CN" altLang="en-US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并行</a:t>
            </a:r>
            <a:r>
              <a:rPr lang="zh-CN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召回 + RRF 融合</a:t>
            </a:r>
          </a:p>
          <a:p>
            <a:r>
              <a:rPr lang="zh-CN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│ ├─ embeddings.embed_query() bge 语义召回</a:t>
            </a:r>
          </a:p>
          <a:p>
            <a:r>
              <a:rPr lang="zh-CN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│ ├─ localstore.bm25_top() </a:t>
            </a:r>
            <a:r>
              <a:rPr lang="zh-CN" altLang="en-US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关键词</a:t>
            </a:r>
            <a:r>
              <a:rPr lang="zh-CN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召回</a:t>
            </a:r>
          </a:p>
          <a:p>
            <a:r>
              <a:rPr lang="zh-CN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│ └─ rerank.rerank() 精排 </a:t>
            </a:r>
            <a:r>
              <a:rPr lang="en-US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Rerank</a:t>
            </a:r>
            <a:r>
              <a:rPr lang="zh-CN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（&lt; 0.3 → 证据不足）</a:t>
            </a:r>
          </a:p>
          <a:p>
            <a:r>
              <a:rPr lang="zh-CN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└─ 注入</a:t>
            </a:r>
            <a:r>
              <a:rPr lang="en-US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r>
              <a:rPr lang="zh-CN" altLang="zh-CN" sz="1600" spc="26">
                <a:latin typeface="Times New Roman" panose="02020603050405020304" pitchFamily="18" charset="0"/>
                <a:cs typeface="Times New Roman" panose="02020603050405020304" pitchFamily="18" charset="0"/>
              </a:rPr>
              <a:t>证据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11B7E9-1035-3843-CFFF-0DE8265C0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929" y="209550"/>
            <a:ext cx="6270542" cy="309583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B57A7AC-85CB-F0D5-8FB2-6E0193FE5A38}"/>
              </a:ext>
            </a:extLst>
          </p:cNvPr>
          <p:cNvSpPr txBox="1"/>
          <p:nvPr/>
        </p:nvSpPr>
        <p:spPr>
          <a:xfrm>
            <a:off x="204788" y="336157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spc="26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r>
              <a:rPr lang="zh-CN" altLang="en-US" sz="1600" b="1" spc="26">
                <a:latin typeface="Times New Roman" panose="02020603050405020304" pitchFamily="18" charset="0"/>
                <a:cs typeface="Times New Roman" panose="02020603050405020304" pitchFamily="18" charset="0"/>
              </a:rPr>
              <a:t>代码配置：</a:t>
            </a:r>
            <a:endParaRPr lang="en-US" altLang="zh-CN" sz="1600" b="1" spc="2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228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方正兰亭黑简体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方正兰亭黑简体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方正兰亭黑简体"/>
        <a:font script="Hebr" typeface="方正兰亭黑简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方正兰亭黑简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方正兰亭黑简体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方正兰亭黑简体"/>
        <a:font script="Hebr" typeface="方正兰亭黑简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方正兰亭黑简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方正兰亭黑简体"/>
        <a:ea typeface=""/>
        <a:cs typeface=""/>
        <a:font script="Jpan" typeface="ＭＳ Ｐゴシック"/>
        <a:font script="Hang" typeface="맑은 고딕"/>
        <a:font script="Hans" typeface="方正兰亭黑简体"/>
        <a:font script="Hant" typeface="新細明體"/>
        <a:font script="Arab" typeface="方正兰亭黑简体"/>
        <a:font script="Hebr" typeface="方正兰亭黑简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方正兰亭黑简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2308</Words>
  <Application>Microsoft Office PowerPoint</Application>
  <PresentationFormat>宽屏</PresentationFormat>
  <Paragraphs>106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Huawei Sans</vt:lpstr>
      <vt:lpstr>微軟正黑體</vt:lpstr>
      <vt:lpstr>方正兰亭黑简体</vt:lpstr>
      <vt:lpstr>微软雅黑</vt:lpstr>
      <vt:lpstr>微软雅黑</vt:lpstr>
      <vt:lpstr>Arial</vt:lpstr>
      <vt:lpstr>Consolas</vt:lpstr>
      <vt:lpstr>Times New Roman</vt:lpstr>
      <vt:lpstr>Office 主题</vt:lpstr>
      <vt:lpstr>39_章节页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Wangjie (Aitor)</dc:creator>
  <cp:lastModifiedBy>业飞 侯</cp:lastModifiedBy>
  <cp:revision>23</cp:revision>
  <dcterms:created xsi:type="dcterms:W3CDTF">2026-08-02T16:21:05Z</dcterms:created>
  <dcterms:modified xsi:type="dcterms:W3CDTF">2026-09-13T15:02:25Z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(3)sKXLn1qDaC//ygesWrSJfC96BIpJkdy0h0Skvd77oBUG2U0kdzdhrrY/1k3yMO7OmV6alJgT
lZGT6DTSNS32xHaXCt2AWlUsUzHXdeAfINxlYD7lEg+4VwpnZEjQsh6B4/4QYP2/YmlyXDCW
Es6F4X4cnnq92m/qznGqtNEHOO8tSB8rL86/M2BF9mYVoAqnpeqIX+jkAkOukQI8EKykzmFR
su+Shu+e6whVZASDu1</vt:lpwstr>
  </property>
  <property fmtid="{D5CDD505-2E9C-101B-9397-08002B2CF9AE}" pid="3" name="_2015_ms_pID_7253431">
    <vt:lpwstr>wvAVMWDcRXmJRbtRPEVaEipQAPZxGP1lrMPMXA4Yg3AyNf1QO7ZSV6
e7WHr939+NV1oWeuFGjgSFvKN2dQYVplvUOh9ZA0XYRzCI/Dwph77teoO48RuNXaYCmsmxA1
M/XpLIq7yCMm4Y5vekjwE/0qdIre/TC+L89XvI1j5U3ScQzlW/2Dfq9IQxKY8Vck4T/JDUC7
r6USrdHXSWhRXpUVLQHmz3o3kBqV6xIbsS5K</vt:lpwstr>
  </property>
  <property fmtid="{D5CDD505-2E9C-101B-9397-08002B2CF9AE}" pid="4" name="KSOProductBuildVer">
    <vt:lpwstr>2052-0.0.0.0</vt:lpwstr>
  </property>
  <property fmtid="{D5CDD505-2E9C-101B-9397-08002B2CF9AE}" pid="5" name="_2015_ms_pID_7253432">
    <vt:lpwstr>nQ==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1761113192</vt:lpwstr>
  </property>
  <property fmtid="{D5CDD505-2E9C-101B-9397-08002B2CF9AE}" pid="10" name="ICV">
    <vt:lpwstr/>
  </property>
</Properties>
</file>
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463040"/>
            <a:ext cx="292608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284C7"/>
                </a:solidFill>
                <a:latin typeface="Microsoft YaHei"/>
              </a:defRPr>
            </a:pPr>
            <a:r>
              <a:t>ENTERPRISE AI AGENT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Meeting 领域 Agent 架构解构与演进</a:t>
            </a:r>
          </a:p>
          <a:p>
            <a:pPr>
              <a:defRPr sz="1800">
                <a:solidFill>
                  <a:srgbClr val="94A3B8"/>
                </a:solidFill>
                <a:latin typeface="Microsoft YaHei"/>
              </a:defRPr>
            </a:pPr>
            <a:r>
              <a:t>深度拆解：会议理解 · 子任务分工 · 审核校验 · 渲染展现 · 记忆体系与并发写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3931920"/>
            <a:ext cx="292608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400" b="1">
                <a:solidFill>
                  <a:srgbClr val="0284C7"/>
                </a:solidFill>
                <a:latin typeface="Microsoft YaHei"/>
              </a:defRPr>
            </a:pPr>
            <a:r>
              <a:t>四层闭环架构</a:t>
            </a:r>
          </a:p>
          <a:p>
            <a:pPr>
              <a:defRPr sz="1050">
                <a:solidFill>
                  <a:srgbClr val="CBD5E1"/>
                </a:solidFill>
                <a:latin typeface="Microsoft YaHei"/>
              </a:defRPr>
            </a:pPr>
            <a:r>
              <a:t>理解感知、任务执行、质量审核、多模态渲染的协同机制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931920"/>
            <a:ext cx="292608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400" b="1">
                <a:solidFill>
                  <a:srgbClr val="0D9488"/>
                </a:solidFill>
                <a:latin typeface="Microsoft YaHei"/>
              </a:defRPr>
            </a:pPr>
            <a:r>
              <a:t>当前产业进展</a:t>
            </a:r>
          </a:p>
          <a:p>
            <a:pPr>
              <a:defRPr sz="1050">
                <a:solidFill>
                  <a:srgbClr val="CBD5E1"/>
                </a:solidFill>
                <a:latin typeface="Microsoft YaHei"/>
              </a:defRPr>
            </a:pPr>
            <a:r>
              <a:t>从单纯ASR总结跨越到全流程结构化辅助与落地痛点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931920"/>
            <a:ext cx="292608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400" b="1">
                <a:solidFill>
                  <a:srgbClr val="D97706"/>
                </a:solidFill>
                <a:latin typeface="Microsoft YaHei"/>
              </a:defRPr>
            </a:pPr>
            <a:r>
              <a:t>未来演进突破</a:t>
            </a:r>
          </a:p>
          <a:p>
            <a:pPr>
              <a:defRPr sz="1050">
                <a:solidFill>
                  <a:srgbClr val="CBD5E1"/>
                </a:solidFill>
                <a:latin typeface="Microsoft YaHei"/>
              </a:defRPr>
            </a:pPr>
            <a:r>
              <a:t>跨会议长期组织记忆 + 结构化模板并发写入引擎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Microsoft YaHei"/>
              </a:defRPr>
            </a:pPr>
            <a: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Meeting 领域 Agent 总体分层架构全景图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457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11155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37160" cy="11155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72768"/>
            <a:ext cx="3474720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40AF"/>
                </a:solidFill>
                <a:latin typeface="Microsoft YaHei"/>
              </a:defRPr>
            </a:pPr>
            <a:r>
              <a:t>Layer 1: 感知与理解层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Meeting Understanding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572768"/>
            <a:ext cx="6675120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多模态感知接入（ASR音频流、声纹分离、屏幕OCR、聊天记录）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语义层级解析：语篇切分 (Segmentation)、议题识别、上下文对齐、意图与实体抽取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输出：带有时间戳、发言人、议题索引的精细化多模态结构化会议图谱 (Meeting Context Graph)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10728655" cy="111556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137160" cy="11155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52928"/>
            <a:ext cx="3474720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Microsoft YaHei"/>
              </a:defRPr>
            </a:pPr>
            <a:r>
              <a:t>Layer 2: 任务协同执行层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Specialized Sub-task Agents Swarm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52928"/>
            <a:ext cx="6675120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纪要生成 Agent：议题级深度摘要、核心论点归纳、关键观点对比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待办闭环 Agent：提取行动项(Action Items)、责任人指派、工期与验收条件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决议追踪 Agent：锁定明确结论、表决共识、争议未决点与前置条件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问答分析 Agent：实时跨发言人观点溯源、时间戳语义搜索、交互式问答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10728655" cy="111556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137160" cy="11155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33088"/>
            <a:ext cx="3474720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YaHei"/>
              </a:defRPr>
            </a:pPr>
            <a:r>
              <a:t>Layer 3: 质检与可信审核层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Audit &amp; Verification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33088"/>
            <a:ext cx="6675120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事实一致性校验 (Fact-Checking)：反向溯源对齐原始转写，证据链强制引用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幻觉与逻辑消解：消除前后矛盾论断、过滤模糊主语错位归因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完整度与合规审查：对照议程校验遗漏事项，企业机密与合规敏感词脱敏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728655" cy="111556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03520"/>
            <a:ext cx="137160" cy="11155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13248"/>
            <a:ext cx="3474720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Microsoft YaHei"/>
              </a:defRPr>
            </a:pPr>
            <a:r>
              <a:t>Layer 4: 渲染与交互展现层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Multi-modal Rendering &amp;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413248"/>
            <a:ext cx="6675120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多端自适应渲染：Markdown / Word / PDF / 在线协同文档 (飞书/Notion/钉钉)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结构化可视化生成：Mermaid流程图、思维导图、甘特图、时间线图谱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场景化微排版：IM即时通信群卡片 (30s电梯摘要)、待办一键认领卡片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Microsoft YaHei"/>
              </a:defRPr>
            </a:pPr>
            <a:r>
              <a:t>DEEP DIVE: UNDERSTANDING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核心底座：meeting_understanding 理解引擎深入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457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777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多模态数据摄入与清洗</a:t>
            </a:r>
          </a:p>
          <a:p>
            <a:pPr>
              <a:defRPr sz="900">
                <a:solidFill>
                  <a:srgbClr val="E2E8F0"/>
                </a:solidFill>
                <a:latin typeface="Microsoft YaHei"/>
              </a:defRPr>
            </a:pPr>
            <a:r>
              <a:t>Multimodal Ingestion &amp; Alignment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2316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ASR音文转录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支持长音频分块、流式转写、低延迟声学重打标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38328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声纹说话人分离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Speaker Diarization，解决同音/交叉插话难题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34340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屏幕OCR与视觉帧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捕捉PPT换页、白板笔迹、代码演示关键帧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30352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会中交互日志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聊天室留言、举手互动、实时投票问卷数据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46304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1463040"/>
            <a:ext cx="3429000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语篇结构化与议题切分</a:t>
            </a:r>
          </a:p>
          <a:p>
            <a:pPr>
              <a:defRPr sz="900">
                <a:solidFill>
                  <a:srgbClr val="E2E8F0"/>
                </a:solidFill>
                <a:latin typeface="Microsoft YaHei"/>
              </a:defRPr>
            </a:pPr>
            <a:r>
              <a:t>Discourse &amp; Topic Segmentation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7136" y="242316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动态滑动窗口切分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基于语义连贯度 (TextTiling) 与议程锚点分割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17136" y="338328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议题聚类与对齐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将散乱发言归并映射到预设/自发现的议程体系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17136" y="434340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主线与插话辨识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识别发散性寒暄、离题插曲并打上分支标签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17136" y="530352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实体与意图挖掘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识别责任人、时间、产品模块、同意/质疑态度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146304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2" y="1463040"/>
            <a:ext cx="342900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长上下文图谱化建模</a:t>
            </a:r>
          </a:p>
          <a:p>
            <a:pPr>
              <a:defRPr sz="900">
                <a:solidFill>
                  <a:srgbClr val="E2E8F0"/>
                </a:solidFill>
                <a:latin typeface="Microsoft YaHei"/>
              </a:defRPr>
            </a:pPr>
            <a:r>
              <a:t>Context Graph &amp; Knowledge Pack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5592" y="242316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层次化上下文封装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宏观会议大纲 ➔ 议题微结构 ➔ 发言人发言对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338328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时序依存关系链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构建发言的前后因果承接与逻辑因果网络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5592" y="434340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多模态锚点绑定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文字-时间戳-PPT幻灯片页码三元组绑定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5303520"/>
            <a:ext cx="31546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100" b="1">
                <a:solidFill>
                  <a:srgbClr val="0F172A"/>
                </a:solidFill>
                <a:latin typeface="Microsoft YaHei"/>
              </a:defRPr>
            </a:pPr>
            <a:r>
              <a:t>标准化上下文包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向子Agent输出高保真、低噪声的结构化Prompt环境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Microsoft YaHei"/>
              </a:defRPr>
            </a:pPr>
            <a:r>
              <a:t>SPECIALIZED SUB-TASK AGENTS SWARM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分工协同：专业子任务 Agent 集群设计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457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27632"/>
            <a:ext cx="306324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40AF"/>
                </a:solidFill>
                <a:latin typeface="Microsoft YaHei"/>
              </a:defRPr>
            </a:pPr>
            <a:r>
              <a:t>纪要生成 Agent</a:t>
            </a:r>
          </a:p>
          <a:p>
            <a:pPr>
              <a:defRPr sz="850">
                <a:solidFill>
                  <a:srgbClr val="94A3B8"/>
                </a:solidFill>
                <a:latin typeface="Microsoft YaHei"/>
              </a:defRPr>
            </a:pPr>
            <a:r>
              <a:t>Meeting Minutes &amp; Summary Agent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核心定位：多层级精细化纪要提取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分层产出：高管1页纸电梯摘要 + 议题展开深度纪要 + 发言人观点辨析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特殊机制：去口语化重塑、观点与事实分离、重点论据提取保留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46304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1463040"/>
            <a:ext cx="3429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627632"/>
            <a:ext cx="306324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Microsoft YaHei"/>
              </a:defRPr>
            </a:pPr>
            <a:r>
              <a:t>待办闭环 Agent</a:t>
            </a:r>
          </a:p>
          <a:p>
            <a:pPr>
              <a:defRPr sz="850">
                <a:solidFill>
                  <a:srgbClr val="94A3B8"/>
                </a:solidFill>
                <a:latin typeface="Microsoft YaHei"/>
              </a:defRPr>
            </a:pPr>
            <a:r>
              <a:t>Action Items &amp; Task Agent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核心定位：可落地的明确任务(Action Items)提取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关键字段：任务名称、主责人(Assignee)、协作者、截止时间(DDL)、验收指标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系统联动：对接企业工单系统 (Jira, 飞书任务, TAPD) 自动生成草稿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46304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1463040"/>
            <a:ext cx="3429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627632"/>
            <a:ext cx="306324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Microsoft YaHei"/>
              </a:defRPr>
            </a:pPr>
            <a:r>
              <a:t>决议追踪 Agent</a:t>
            </a:r>
          </a:p>
          <a:p>
            <a:pPr>
              <a:defRPr sz="850">
                <a:solidFill>
                  <a:srgbClr val="94A3B8"/>
                </a:solidFill>
                <a:latin typeface="Microsoft YaHei"/>
              </a:defRPr>
            </a:pPr>
            <a:r>
              <a:t>Decisions &amp; Consensus Agent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核心定位：锁定重大会议产出与组织承诺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维度拆解：最终确定决策、附带触发条件(If-Then)、表决赞否比例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争议标记：明确列出“搁置争议、待下次会议评审”的未决事项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429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87952"/>
            <a:ext cx="306324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YaHei"/>
              </a:defRPr>
            </a:pPr>
            <a:r>
              <a:t>问答检索 Agent</a:t>
            </a:r>
          </a:p>
          <a:p>
            <a:pPr>
              <a:defRPr sz="850">
                <a:solidFill>
                  <a:srgbClr val="94A3B8"/>
                </a:solidFill>
                <a:latin typeface="Microsoft YaHei"/>
              </a:defRPr>
            </a:pPr>
            <a:r>
              <a:t>Meeting Copilot / QA Agent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核心定位：会后/会中交互式语义问答与情报挖掘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交互能力：跨议题交叉验证、特定发言人立场查询（“张三为什么反对方案B？”）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溯源保障：毫秒级秒出音视频对应时间戳与发言切片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402336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9976" y="4023360"/>
            <a:ext cx="342900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4187952"/>
            <a:ext cx="306324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11D48"/>
                </a:solidFill>
                <a:latin typeface="Microsoft YaHei"/>
              </a:defRPr>
            </a:pPr>
            <a:r>
              <a:t>态势风控 Agent</a:t>
            </a:r>
          </a:p>
          <a:p>
            <a:pPr>
              <a:defRPr sz="850">
                <a:solidFill>
                  <a:srgbClr val="94A3B8"/>
                </a:solidFill>
                <a:latin typeface="Microsoft YaHei"/>
              </a:defRPr>
            </a:pPr>
            <a:r>
              <a:t>Risk &amp; Sentiment Agent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核心定位：识别项目潜在隐患与团队协同障碍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态势感知：发言主导权分布、负面情绪/激烈冲突预警、跨部门摩擦点识别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风险预测：排期乐观偏差识别、跨团队依赖断裂预警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402336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8432" y="4023360"/>
            <a:ext cx="34290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4187952"/>
            <a:ext cx="306324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icrosoft YaHei"/>
              </a:defRPr>
            </a:pPr>
            <a:r>
              <a:t>角色画像 Agent</a:t>
            </a:r>
          </a:p>
          <a:p>
            <a:pPr>
              <a:defRPr sz="850">
                <a:solidFill>
                  <a:srgbClr val="94A3B8"/>
                </a:solidFill>
                <a:latin typeface="Microsoft YaHei"/>
              </a:defRPr>
            </a:pPr>
            <a:r>
              <a:t>Speaker Profiling &amp; Alignment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核心定位：参会人职能定位与贡献度量化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画像维度：发言权重、决策拍板频次、建设性建议提出率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辅助纠偏：提示会议倾听不足或某角色发言缺失（如QA/架构师未发言）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Microsoft YaHei"/>
              </a:defRPr>
            </a:pPr>
            <a:r>
              <a:t>RELIABILITY: AUDIT &amp; FACT-CHECKING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防幻觉与质量把控：审核 Agent (Audit &amp; Verification)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457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56692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40AF"/>
                </a:solidFill>
                <a:latin typeface="Microsoft YaHei"/>
              </a:defRPr>
            </a:pPr>
            <a:r>
              <a:t>四维可信审核体系 (Four-Dimensional Audit Engine)</a:t>
            </a:r>
          </a:p>
          <a:p>
            <a:pPr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1. 事实一致性与反向溯源 (Fact Grounding)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利用 NLI (自然语言推理) 模型进行逐句反向蕴含验证。生成的每一条纪要和待办必须与原始音视频转写建立双向对齐 (Bi-directional Attribution)。凡无证据链支持的论断直接标黄预警或自动剔除。</a:t>
            </a:r>
          </a:p>
          <a:p>
            <a:pPr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2. 责任与时间主体消解 (Coreference &amp; Ambiguity)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严查口语化代词“那个事你搞一下”、“下周五之前”引起的歧义。审核 Agent 核实“你”是否准确归因到对应发言人，“下周五”是否根据会议发生时间准确换算成绝对公历日期 (YYYY-MM-DD)。</a:t>
            </a:r>
          </a:p>
          <a:p>
            <a:pPr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3. 逻辑冲突与表决矛盾 (Logical Contradiction)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排查“决议事项”与“行动项”之间的冲突。例如：决议放弃方案A，但待办中仍存在“调研方案A供应商”。一旦发现前后自相矛盾，触发一致性仲裁。</a:t>
            </a:r>
          </a:p>
          <a:p>
            <a:pPr>
              <a:defRPr sz="1150" b="1">
                <a:solidFill>
                  <a:srgbClr val="D97706"/>
                </a:solidFill>
                <a:latin typeface="Microsoft YaHei"/>
              </a:defRPr>
            </a:pPr>
            <a:r>
              <a:t>4. 合规隐私与信息保密 (Compliance &amp; Privacy Guard)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自动识别个人敏感隐私 (PII)、员工薪酬、未经公开的财务数据、客户核心机密，按企业安全策略执行自动脱敏或权限级展示隔离。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2495" y="1463040"/>
            <a:ext cx="42976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645920"/>
            <a:ext cx="3840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闭环自省与重试反馈机制 (Self-Correction Loop)</a:t>
            </a:r>
          </a:p>
          <a:p>
            <a:pPr>
              <a:defRPr sz="1050" b="1">
                <a:solidFill>
                  <a:srgbClr val="0284C7"/>
                </a:solidFill>
                <a:latin typeface="Microsoft YaHei"/>
              </a:defRPr>
            </a:pPr>
            <a:r>
              <a:t>Step 1: 生成初稿</a:t>
            </a:r>
          </a:p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子任务 Agent 输出结构化 JSON 初稿及候选证据索引。</a:t>
            </a:r>
          </a:p>
          <a:p>
            <a:pPr>
              <a:defRPr sz="1050" b="1">
                <a:solidFill>
                  <a:srgbClr val="0284C7"/>
                </a:solidFill>
                <a:latin typeface="Microsoft YaHei"/>
              </a:defRPr>
            </a:pPr>
            <a:r>
              <a:t>Step 2: 独立核验</a:t>
            </a:r>
          </a:p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审核 Agent 作为独立评估者运行，对候选稿件打标 (Confidence &amp; Grounding Score)。</a:t>
            </a:r>
          </a:p>
          <a:p>
            <a:pPr>
              <a:defRPr sz="1050" b="1">
                <a:solidFill>
                  <a:srgbClr val="0284C7"/>
                </a:solidFill>
                <a:latin typeface="Microsoft YaHei"/>
              </a:defRPr>
            </a:pPr>
            <a:r>
              <a:t>Step 3: 违规诊断与差分反馈</a:t>
            </a:r>
          </a:p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若置信度低于阈值 (如 &lt; 0.85)，生成精确的 Diagnostic Feedback (例如：缺少时间戳证据、主语模糊)。</a:t>
            </a:r>
          </a:p>
          <a:p>
            <a:pPr>
              <a:defRPr sz="1050" b="1">
                <a:solidFill>
                  <a:srgbClr val="0284C7"/>
                </a:solidFill>
                <a:latin typeface="Microsoft YaHei"/>
              </a:defRPr>
            </a:pPr>
            <a:r>
              <a:t>Step 4: 靶向自适应修复</a:t>
            </a:r>
          </a:p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子 Agent 仅针对被质疑的特定字段进行局部 Prompt 重试，无需全篇重写，大幅节约延时与Token。</a:t>
            </a:r>
          </a:p>
          <a:p>
            <a:pPr>
              <a:defRPr sz="1050" b="1">
                <a:solidFill>
                  <a:srgbClr val="0284C7"/>
                </a:solidFill>
                <a:latin typeface="Microsoft YaHei"/>
              </a:defRPr>
            </a:pPr>
            <a:r>
              <a:t>Step 5: 人机协同 (HITL)</a:t>
            </a:r>
          </a:p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对于极高风险或低置信度内容，打上 [需人工复核] 标记并高亮原文供用户一键决策。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Microsoft YaHei"/>
              </a:defRPr>
            </a:pPr>
            <a:r>
              <a:t>MULTI-MODAL RENDERING &amp;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多模态与场景适配：渲染 Agent (Rendering Engine)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457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9728" cy="2240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47091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40AF"/>
                </a:solidFill>
                <a:latin typeface="Microsoft YaHei"/>
              </a:defRPr>
            </a:pPr>
            <a:r>
              <a:t>场景一：IM即时通讯交互卡片</a:t>
            </a:r>
          </a:p>
          <a:p>
            <a:pPr>
              <a:defRPr sz="900">
                <a:solidFill>
                  <a:srgbClr val="94A3B8"/>
                </a:solidFill>
                <a:latin typeface="Microsoft YaHei"/>
              </a:defRPr>
            </a:pPr>
            <a:r>
              <a:t>Enterprise IM Interactive Cards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核心形态：飞书/钉钉/企微消息流卡片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内容结构：30秒高管极简速览 + 核心待办认领按钮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交互特性：支持在群聊中一键勾选‘认领任务’、点击查看录音原文引用片段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463040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9535" y="1463040"/>
            <a:ext cx="109728" cy="2240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3855" y="1600200"/>
            <a:ext cx="47091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Microsoft YaHei"/>
              </a:defRPr>
            </a:pPr>
            <a:r>
              <a:t>场景二：协同知识库在线文档</a:t>
            </a:r>
          </a:p>
          <a:p>
            <a:pPr>
              <a:defRPr sz="900">
                <a:solidFill>
                  <a:srgbClr val="94A3B8"/>
                </a:solidFill>
                <a:latin typeface="Microsoft YaHei"/>
              </a:defRPr>
            </a:pPr>
            <a:r>
              <a:t>Rich Online Docs (Notion / Feishu)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核心形态：模块化、块级结构化在线文档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视觉排版：议程折叠展开、Callout高亮警示框、责任人@提及、任务看板视图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动态联动：与团队知识库自动关联，自动创建跨会议专题合辑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109728" cy="2240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47091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Microsoft YaHei"/>
              </a:defRPr>
            </a:pPr>
            <a:r>
              <a:t>场景三：结构化图表与多模态可视化</a:t>
            </a:r>
          </a:p>
          <a:p>
            <a:pPr>
              <a:defRPr sz="900">
                <a:solidFill>
                  <a:srgbClr val="94A3B8"/>
                </a:solidFill>
                <a:latin typeface="Microsoft YaHei"/>
              </a:defRPr>
            </a:pPr>
            <a:r>
              <a:t>Diagrams &amp; Mindmaps (Mermaid / SVG)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思维导图：议题树状展开，全景结构一目了然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流程与甘特图：待办事项交付里程碑甘特图，前后置依赖有向图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发言拓扑图：各参会人发言频次与互动关系雷达图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023360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9535" y="4023360"/>
            <a:ext cx="109728" cy="2240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3855" y="4160520"/>
            <a:ext cx="47091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Microsoft YaHei"/>
              </a:defRPr>
            </a:pPr>
            <a:r>
              <a:t>场景四：严谨商务汇报格式交付</a:t>
            </a:r>
          </a:p>
          <a:p>
            <a:pPr>
              <a:defRPr sz="900">
                <a:solidFill>
                  <a:srgbClr val="94A3B8"/>
                </a:solidFill>
                <a:latin typeface="Microsoft YaHei"/>
              </a:defRPr>
            </a:pPr>
            <a:r>
              <a:t>Formal Formats (Word / PDF / PPT)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核心形态：遵循企业标准化模板规范的正式公文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排版引擎：自动匹配企业页眉页脚、统一排版间距、图文混排分页保护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归档审计：附带防篡改数字签名与音视频时间戳附录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Microsoft YaHei"/>
              </a:defRPr>
            </a:pPr>
            <a:r>
              <a:t>END-TO-END EXECUTION LOGIC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会议 Agent 全流程端到端执行逻辑流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457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965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965960" cy="685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阶段一: 多模态摄入与对齐</a:t>
            </a:r>
          </a:p>
          <a:p>
            <a:pPr>
              <a:defRPr sz="800">
                <a:solidFill>
                  <a:srgbClr val="E2E8F0"/>
                </a:solidFill>
                <a:latin typeface="Microsoft YaHei"/>
              </a:defRPr>
            </a:pPr>
            <a:r>
              <a:t>Multimodal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40280"/>
            <a:ext cx="1746504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音频ASR长流识别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声纹分离定界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屏幕共享OCR提取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生成时序转写对齐流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4056" y="3291840"/>
            <a:ext cx="1645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94A3B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6936" y="1463040"/>
            <a:ext cx="1965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16936" y="1463040"/>
            <a:ext cx="1965960" cy="6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阶段二: 会议理解中枢</a:t>
            </a:r>
          </a:p>
          <a:p>
            <a:pPr>
              <a:defRPr sz="800">
                <a:solidFill>
                  <a:srgbClr val="E2E8F0"/>
                </a:solidFill>
                <a:latin typeface="Microsoft YaHei"/>
              </a:defRPr>
            </a:pPr>
            <a:r>
              <a:t>meeting_understanding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2240280"/>
            <a:ext cx="1746504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议题自适应切分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主题聚类与离题过滤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实体意图图谱化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构建上下文索引表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3291840"/>
            <a:ext cx="1645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94A3B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2352" y="1463040"/>
            <a:ext cx="1965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2352" y="1463040"/>
            <a:ext cx="196596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阶段三: 子任务并发派发</a:t>
            </a:r>
          </a:p>
          <a:p>
            <a:pPr>
              <a:defRPr sz="800">
                <a:solidFill>
                  <a:srgbClr val="E2E8F0"/>
                </a:solidFill>
                <a:latin typeface="Microsoft YaHei"/>
              </a:defRPr>
            </a:pPr>
            <a:r>
              <a:t>Sub-task Swarm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240280"/>
            <a:ext cx="1746504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纪要Agent：深度提炼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待办Agent：责任人闭环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决议Agent：明确共识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问答Agent：知识向量化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3291840"/>
            <a:ext cx="1645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94A3B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7768" y="1463040"/>
            <a:ext cx="1965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87768" y="1463040"/>
            <a:ext cx="196596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阶段四: 严格审核仲裁</a:t>
            </a:r>
          </a:p>
          <a:p>
            <a:pPr>
              <a:defRPr sz="800">
                <a:solidFill>
                  <a:srgbClr val="E2E8F0"/>
                </a:solidFill>
                <a:latin typeface="Microsoft YaHei"/>
              </a:defRPr>
            </a:pPr>
            <a:r>
              <a:t>Audit &amp; 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496" y="2240280"/>
            <a:ext cx="1746504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事实溯源与反向蕴含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口语代词消解纠偏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前后矛盾冲突仲裁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违规诊断与自省重试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3291840"/>
            <a:ext cx="1645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 b="1">
                <a:solidFill>
                  <a:srgbClr val="94A3B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73184" y="1463040"/>
            <a:ext cx="1965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73184" y="1463040"/>
            <a:ext cx="1965960" cy="685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阶段五: 渲染与多端交付</a:t>
            </a:r>
          </a:p>
          <a:p>
            <a:pPr>
              <a:defRPr sz="800">
                <a:solidFill>
                  <a:srgbClr val="E2E8F0"/>
                </a:solidFill>
                <a:latin typeface="Microsoft YaHei"/>
              </a:defRPr>
            </a:pPr>
            <a:r>
              <a:t>Rendering &amp;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2240280"/>
            <a:ext cx="1746504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动态槽位拼装合稿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多端UI自适应排版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Mermaid思维导图生成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推送IM/文档/任务系统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150" b="1">
                <a:solidFill>
                  <a:srgbClr val="1E40AF"/>
                </a:solidFill>
                <a:latin typeface="Microsoft YaHei"/>
              </a:defRPr>
            </a:pPr>
            <a:r>
              <a:t>架构闭环关键原则：上游结构化解耦 ➔ 中游多Agent并行加速 ➔ 下游强制事实归因反思 ➔ 终端多模态无缝投递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Microsoft YaHei"/>
              </a:defRPr>
            </a:pPr>
            <a:r>
              <a:t>CURRENT PROGRESS &amp; REAL-WORLD BOTTLENECKS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产业现状盘点：当前进展与生产落地痛点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457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当前已取得的重大技术突破 (What Works Today)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Microsoft YaHei"/>
              </a:defRPr>
            </a:pPr>
            <a:r>
              <a:t>✔ 长文本基座大模型红利普及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百万上下文 (1M-2M Token) 使得2-4小时超长会议全文一次性喂入成为可能，召回率相较传统分块大幅提升。</a:t>
            </a:r>
          </a:p>
          <a:p>
            <a:pPr>
              <a:defRPr sz="1100" b="1">
                <a:solidFill>
                  <a:srgbClr val="0D9488"/>
                </a:solidFill>
                <a:latin typeface="Microsoft YaHei"/>
              </a:defRPr>
            </a:pPr>
            <a:r>
              <a:t>✔ 标品纪要成为主流协作工具标配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飞书妙记、钉钉AI听伴、腾讯会议AI小助、Zoom AI Companion、Teams Copilot 全面普及，单场摘要成熟。</a:t>
            </a:r>
          </a:p>
          <a:p>
            <a:pPr>
              <a:defRPr sz="1100" b="1">
                <a:solidFill>
                  <a:srgbClr val="0D9488"/>
                </a:solidFill>
                <a:latin typeface="Microsoft YaHei"/>
              </a:defRPr>
            </a:pPr>
            <a:r>
              <a:t>✔ ASR与声纹分离准确率跨越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端到端语音大模型对专业术语、口音、中英混杂识别率突破95%，说话人识别稳定性大幅增强。</a:t>
            </a:r>
          </a:p>
          <a:p>
            <a:pPr>
              <a:defRPr sz="1100" b="1">
                <a:solidFill>
                  <a:srgbClr val="0D9488"/>
                </a:solidFill>
                <a:latin typeface="Microsoft YaHei"/>
              </a:defRPr>
            </a:pPr>
            <a:r>
              <a:t>✔ 流水线Agent初步落地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从早期单一Prompt直接输出全文，进化到‘切分-摘要-待办抽取’的多步骤Pipeline或初步Subagents协同。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9535" y="1463040"/>
            <a:ext cx="512064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深水区核心瓶颈与落地痛点 (Critical Pain Points)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3855" y="2194560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Microsoft YaHei"/>
              </a:defRPr>
            </a:pPr>
            <a:r>
              <a:t>✘ 口语碎片化导致的‘事实张冠李戴’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口语省略主语、频繁打断修正，导致模型经常将A提出的待办误扣在B头上，在商务/研发场景易引发协作事故。</a:t>
            </a:r>
          </a:p>
          <a:p>
            <a:pPr>
              <a:defRPr sz="1100" b="1">
                <a:solidFill>
                  <a:srgbClr val="D97706"/>
                </a:solidFill>
                <a:latin typeface="Microsoft YaHei"/>
              </a:defRPr>
            </a:pPr>
            <a:r>
              <a:t>✘ 跨会议孤岛与上下文严重断裂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每次会议被孤立处理，无法回答‘上周例会决议落实得如何’、‘该项目三个月来技术方案经历了哪些演变’。</a:t>
            </a:r>
          </a:p>
          <a:p>
            <a:pPr>
              <a:defRPr sz="1100" b="1">
                <a:solidFill>
                  <a:srgbClr val="D97706"/>
                </a:solidFill>
                <a:latin typeface="Microsoft YaHei"/>
              </a:defRPr>
            </a:pPr>
            <a:r>
              <a:t>✘ 大文档端到端串行生成延时巨大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复杂长会议生成详尽纪要耗时常常长达1-3分钟，用户体验断层，缺乏并发分块写入与流式组装机制。</a:t>
            </a:r>
          </a:p>
          <a:p>
            <a:pPr>
              <a:defRPr sz="1100" b="1">
                <a:solidFill>
                  <a:srgbClr val="D97706"/>
                </a:solidFill>
                <a:latin typeface="Microsoft YaHei"/>
              </a:defRPr>
            </a:pPr>
            <a:r>
              <a:t>✘ 缺乏不可推卸的闭环证据链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大多数产品输出为黑盒文本，缺乏与原始音频毫秒级精确反向锚定，导致专业法务、医疗、投资场景不敢直接采用。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Microsoft YaHei"/>
              </a:defRPr>
            </a:pPr>
            <a:r>
              <a:t>FUTURE EVOLUTION: LONG-TERM MEMORY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未来演进一：构建企业级跨会议长期记忆网络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457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4203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2542032" cy="7315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工作记忆 (Working Memory)</a:t>
            </a:r>
          </a:p>
          <a:p>
            <a:pPr>
              <a:defRPr sz="850">
                <a:solidFill>
                  <a:srgbClr val="E2E8F0"/>
                </a:solidFill>
                <a:latin typeface="Microsoft YaHei"/>
              </a:defRPr>
            </a:pPr>
            <a:r>
              <a:t>单场会议实时微上下文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86000"/>
            <a:ext cx="232257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范围：当前进行中会议的滑动音频窗口与实时对话状态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机制：保留最近发言的短程注意力，维护当前议题的活动槽位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核心作用：支持低延迟会中提问、实时字幕打标纠错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463040"/>
            <a:ext cx="254203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463040"/>
            <a:ext cx="2542032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情节记忆 (Episodic Memory)</a:t>
            </a:r>
          </a:p>
          <a:p>
            <a:pPr>
              <a:defRPr sz="850">
                <a:solidFill>
                  <a:srgbClr val="E2E8F0"/>
                </a:solidFill>
                <a:latin typeface="Microsoft YaHei"/>
              </a:defRPr>
            </a:pPr>
            <a:r>
              <a:t>单场会议全景事件快照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86000"/>
            <a:ext cx="232257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范围：单场会议定稿后的结构化图谱、决议列表、音视频锚点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机制：以事件(Event)为最小单元，固化参与者、时间戳、争论焦点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核心作用：单场会议精确回溯、审计查询与反事实验证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463040"/>
            <a:ext cx="254203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463040"/>
            <a:ext cx="2542032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语义与组织记忆 (Semantic Memory)</a:t>
            </a:r>
          </a:p>
          <a:p>
            <a:pPr>
              <a:defRPr sz="850">
                <a:solidFill>
                  <a:srgbClr val="E2E8F0"/>
                </a:solidFill>
                <a:latin typeface="Microsoft YaHei"/>
              </a:defRPr>
            </a:pPr>
            <a:r>
              <a:t>跨会议演进知识图谱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286000"/>
            <a:ext cx="232257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范围：多场次、多部门、跨季度的长期项目与组织知识演化网络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机制：提取实体、项目、架构决策构建 Temporal Knowledge Graph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核心作用：跨会议追踪决策变迁、跟进跨月度待办闭环完成度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463040"/>
            <a:ext cx="254203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463040"/>
            <a:ext cx="2542032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用户画像与偏好记忆 (User Profiling)</a:t>
            </a:r>
          </a:p>
          <a:p>
            <a:pPr>
              <a:defRPr sz="850">
                <a:solidFill>
                  <a:srgbClr val="E2E8F0"/>
                </a:solidFill>
                <a:latin typeface="Microsoft YaHei"/>
              </a:defRPr>
            </a:pPr>
            <a:r>
              <a:t>角色化关注点自适应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2286000"/>
            <a:ext cx="2322576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范围：参会者的职能习惯、关注侧重与表达特征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机制：高管偏好战略决策与ROI；技术TL偏好系统瓶颈与风险阻塞</a:t>
            </a:r>
          </a:p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• 核心作用：‘千人千面’的个性化纪要推送与关键通知唤醒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200" b="1">
                <a:solidFill>
                  <a:srgbClr val="0D9488"/>
                </a:solidFill>
                <a:latin typeface="Microsoft YaHei"/>
              </a:defRPr>
            </a:pPr>
            <a:r>
              <a:t>跨会议决议生命周期闭环追踪机制 (Resolution Lifecycle Tracing)</a:t>
            </a: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在召开本次会议时，记忆 Agent 自动检索关联项目上周/上月的未决议题与待办清单 ➔ 作为隐式上下文注入 meeting_understanding ➔ 在本次会议发言中主动对齐‘是否落实’ ➔ 形成跨会议闭环状态流：[提出] ➔ [推进中] ➔ [阻塞预警] ➔ [正式验收闭环]。彻底打破单次会议孤岛。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Microsoft YaHei"/>
              </a:defRPr>
            </a:pPr>
            <a:r>
              <a:t>FUTURE EVOLUTION: CONCURRENT TEMPLATE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未来演进二：模板并发写与结构化组装引擎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457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5720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40AF"/>
                </a:solidFill>
                <a:latin typeface="Microsoft YaHei"/>
              </a:defRPr>
            </a:pPr>
            <a:r>
              <a:t>范式转变：传统串行流水 vs. 模板并发写</a:t>
            </a:r>
          </a:p>
          <a:p>
            <a:pPr>
              <a:defRPr sz="1100" b="1">
                <a:solidFill>
                  <a:srgbClr val="E11D48"/>
                </a:solidFill>
                <a:latin typeface="Microsoft YaHei"/>
              </a:defRPr>
            </a:pPr>
            <a:r>
              <a:t>传统单体串行生成 (Serial Generation - 痛点)：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• 端到端单一大Prompt直接生成数千字长纪要</a:t>
            </a:r>
            <a:br/>
            <a:r>
              <a:t>• 耗时长 (60s-180s)，用户处于漫长白屏等待</a:t>
            </a:r>
            <a:br/>
            <a:r>
              <a:t>• 上下文注意力衰减，后半段待办与决议频繁遗漏</a:t>
            </a:r>
            <a:br/>
            <a:r>
              <a:t>• 无法根据企业各业务部门差异化模板自适应拼装</a:t>
            </a:r>
          </a:p>
          <a:p>
            <a:pPr>
              <a:defRPr sz="1100" b="1">
                <a:solidFill>
                  <a:srgbClr val="0D9488"/>
                </a:solidFill>
                <a:latin typeface="Microsoft YaHei"/>
              </a:defRPr>
            </a:pPr>
            <a:r>
              <a:t>模板并发写架构 (Concurrent Slot Writing - 突破)：</a:t>
            </a:r>
          </a:p>
          <a:p>
            <a:pPr>
              <a:defRPr sz="950">
                <a:solidFill>
                  <a:srgbClr val="475569"/>
                </a:solidFill>
                <a:latin typeface="Microsoft YaHei"/>
              </a:defRPr>
            </a:pPr>
            <a:r>
              <a:t>• 模板抽象语法树 (Template AST) 解构为离散槽位 (Slots)</a:t>
            </a:r>
            <a:br/>
            <a:r>
              <a:t>• DAG调度器根据依赖关系并发唤醒专属Subagent并行写入</a:t>
            </a:r>
            <a:br/>
            <a:r>
              <a:t>• 生成时延降低 70% (缩短至 15s 以内)</a:t>
            </a:r>
            <a:br/>
            <a:r>
              <a:t>• 每个槽位只消费专属高纯度上下文，细节提取度逼近100%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6655" y="1463040"/>
            <a:ext cx="53035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Microsoft YaHei"/>
              </a:defRPr>
            </a:pPr>
            <a:r>
              <a:t>模板并发写四大关键核心技术支撑</a:t>
            </a:r>
          </a:p>
          <a:p>
            <a:pPr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t>1. Schema-driven Slot Definition (模板槽位化)</a:t>
            </a:r>
          </a:p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企业模板编译为JSON Schema或AST语法树，定义独立槽位：[高管摘要]、[议题1研讨]、[议题2技术评审]、[待办汇总矩阵]、[风险预警清单]。</a:t>
            </a:r>
          </a:p>
          <a:p>
            <a:pPr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t>2. DAG 并发调度与上下文精确切片 (Slot Workers)</a:t>
            </a:r>
          </a:p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调度中心为每个槽位分配轻量级专职 Worker。Worker 仅拉取与自身槽位相关的精简上下文片段，多个Worker在云端毫秒级并发流式调用。</a:t>
            </a:r>
          </a:p>
          <a:p>
            <a:pPr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t>3. 跨槽位一致性仲裁器 (Cross-Slot Consistency Resolver)</a:t>
            </a:r>
          </a:p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解决并发写冲突：议题一产生的待办与待办汇总表的一致性校验；全局发言人命名与缩写统一；全局决议编号规范化。</a:t>
            </a:r>
          </a:p>
          <a:p>
            <a:pPr>
              <a:defRPr sz="1050" b="1">
                <a:solidFill>
                  <a:srgbClr val="0F172A"/>
                </a:solidFill>
                <a:latin typeface="Microsoft YaHei"/>
              </a:defRPr>
            </a:pPr>
            <a:r>
              <a:t>4. 动态流式拼接与断点补偿 (Stream Assembler)</a:t>
            </a:r>
          </a:p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前端先就绪的槽位即时流式呈现，给用户带来零感知等待体验；个别槽位失败时仅针对该槽位重试补偿，无需全局推倒重来。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Microsoft YaHei"/>
              </a:defRPr>
            </a:pPr>
            <a:r>
              <a:t>SUMMARY &amp; TECHNICAL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落地路线图：Meeting Agent 演进实施建议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457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4203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2542032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Phase 1: 夯实基石 (1-3月)</a:t>
            </a:r>
          </a:p>
          <a:p>
            <a:pPr>
              <a:defRPr sz="850">
                <a:solidFill>
                  <a:srgbClr val="E2E8F0"/>
                </a:solidFill>
                <a:latin typeface="Microsoft YaHei"/>
              </a:defRPr>
            </a:pPr>
            <a:r>
              <a:t>结构化理解与单会闭环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26771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上线 meeting_understanding 议题与实体切分引擎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建设纪要、待办、决议三大多智能体并发流水线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引入双向事实 Grounding 审核机制，杜绝幻觉</a:t>
            </a:r>
          </a:p>
          <a:p>
            <a:pPr>
              <a:defRPr sz="600"/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3456432" y="1463040"/>
            <a:ext cx="254203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463040"/>
            <a:ext cx="2542032" cy="8229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Phase 2: 体验跃升 (3-6月)</a:t>
            </a:r>
          </a:p>
          <a:p>
            <a:pPr>
              <a:defRPr sz="850">
                <a:solidFill>
                  <a:srgbClr val="E2E8F0"/>
                </a:solidFill>
                <a:latin typeface="Microsoft YaHei"/>
              </a:defRPr>
            </a:pPr>
            <a:r>
              <a:t>模板并发写与多模态渲染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423160"/>
            <a:ext cx="226771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落地基于 Schema 的模板槽位化并发写 (降延时70%)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支持企微/飞书交互卡片与 Mermaid 架构图脑图输出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打通企业 Jira / 飞书任务工单自动流转闭环</a:t>
            </a:r>
          </a:p>
          <a:p>
            <a:pPr>
              <a:defRPr sz="600"/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6181344" y="1463040"/>
            <a:ext cx="254203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463040"/>
            <a:ext cx="2542032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Phase 3: 组织赋能 (6-12月)</a:t>
            </a:r>
          </a:p>
          <a:p>
            <a:pPr>
              <a:defRPr sz="850">
                <a:solidFill>
                  <a:srgbClr val="E2E8F0"/>
                </a:solidFill>
                <a:latin typeface="Microsoft YaHei"/>
              </a:defRPr>
            </a:pPr>
            <a:r>
              <a:t>企业长期记忆网络构建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423160"/>
            <a:ext cx="226771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上线跨会议 Temporal Knowledge Graph 时序图谱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实现跨场次重大决议全生命周期状态机追踪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建立千人千面个性化角色画像与订阅式摘要触达</a:t>
            </a:r>
          </a:p>
          <a:p>
            <a:pPr>
              <a:defRPr sz="600"/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8906256" y="1463040"/>
            <a:ext cx="254203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463040"/>
            <a:ext cx="2542032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Phase 4: 前沿探索 (12月+)</a:t>
            </a:r>
          </a:p>
          <a:p>
            <a:pPr>
              <a:defRPr sz="850">
                <a:solidFill>
                  <a:srgbClr val="E2E8F0"/>
                </a:solidFill>
                <a:latin typeface="Microsoft YaHei"/>
              </a:defRPr>
            </a:pPr>
            <a:r>
              <a:t>会中自主协同与多模态原生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2423160"/>
            <a:ext cx="226771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探索端到端原生音频 (Native Audio) 副语言情绪理解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会中自主智能主持人：超时提醒、议程偏移插话纠偏</a:t>
            </a:r>
          </a:p>
          <a:p>
            <a:pPr>
              <a:defRPr sz="600"/>
            </a:pPr>
          </a:p>
          <a:p>
            <a:pPr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与企业商业决策大脑打通，形成全自主执行闭环</a:t>
            </a:r>
          </a:p>
          <a:p>
            <a:pPr>
              <a:defRPr sz="6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
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 · 入库篇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Markdown 到可检索的知识块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xiaoyi 离线 RAG 知识库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0" y="651967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383280" cy="2212848"/>
          </a:xfrm>
          <a:prstGeom prst="roundRect">
            <a:avLst>
              <a:gd name="adj" fmla="val 3719"/>
            </a:avLst>
          </a:prstGeom>
          <a:solidFill>
            <a:srgbClr val="173449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627632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D:\study\xiaoyi\ppt_build\icons\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718158"/>
            <a:ext cx="221285" cy="2212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是什么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15798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检索增强生成：回答前先查本地知识库，把带出处的证据注入大模型上下文，而不是靠模型凭空编造。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090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份 md → 397 块 · 索引 1.4 MB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34670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检索纯本地进程内 · 不联网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114800" y="1417320"/>
            <a:ext cx="7525512" cy="2212848"/>
          </a:xfrm>
          <a:prstGeom prst="roundRect">
            <a:avLst>
              <a:gd name="adj" fmla="val 3719"/>
            </a:avLst>
          </a:prstGeom>
          <a:solidFill>
            <a:srgbClr val="173449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5968" y="1627632"/>
            <a:ext cx="402336" cy="40233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1" descr="D:\study\xiaoyi\ppt_build\icons\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1718158"/>
            <a:ext cx="221285" cy="22128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28032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切块四步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297680" y="2121408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18" name="Shape 14"/>
          <p:cNvSpPr/>
          <p:nvPr/>
        </p:nvSpPr>
        <p:spPr>
          <a:xfrm>
            <a:off x="4416552" y="224028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5"/>
          <p:cNvSpPr/>
          <p:nvPr/>
        </p:nvSpPr>
        <p:spPr>
          <a:xfrm>
            <a:off x="4416552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27448" y="22311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按标题分节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416552" y="2578608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h1–h4 逐级切分小节，标题全路径存入 section_path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108192" y="2121408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23" name="Shape 19"/>
          <p:cNvSpPr/>
          <p:nvPr/>
        </p:nvSpPr>
        <p:spPr>
          <a:xfrm>
            <a:off x="6227064" y="224028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0"/>
          <p:cNvSpPr/>
          <p:nvPr/>
        </p:nvSpPr>
        <p:spPr>
          <a:xfrm>
            <a:off x="6227064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37960" y="22311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递归切分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227064" y="2578608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单块 ≤ 500 字：段落→换行→句号→逐字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918704" y="2121408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28" name="Shape 24"/>
          <p:cNvSpPr/>
          <p:nvPr/>
        </p:nvSpPr>
        <p:spPr>
          <a:xfrm>
            <a:off x="8037576" y="224028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5"/>
          <p:cNvSpPr/>
          <p:nvPr/>
        </p:nvSpPr>
        <p:spPr>
          <a:xfrm>
            <a:off x="8037576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8348472" y="22311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句级重叠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8037576" y="2578608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overlap = 100：上一块结尾完整句接到下一块开头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9729216" y="2121408"/>
            <a:ext cx="1737360" cy="1353312"/>
          </a:xfrm>
          <a:prstGeom prst="roundRect">
            <a:avLst>
              <a:gd name="adj" fmla="val 4054"/>
            </a:avLst>
          </a:prstGeom>
          <a:solidFill>
            <a:srgbClr val="1D3E58"/>
          </a:solidFill>
          <a:ln/>
        </p:spPr>
      </p:sp>
      <p:sp>
        <p:nvSpPr>
          <p:cNvPr id="33" name="Shape 29"/>
          <p:cNvSpPr/>
          <p:nvPr/>
        </p:nvSpPr>
        <p:spPr>
          <a:xfrm>
            <a:off x="9848088" y="224028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0"/>
          <p:cNvSpPr/>
          <p:nvPr/>
        </p:nvSpPr>
        <p:spPr>
          <a:xfrm>
            <a:off x="9848088" y="2240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25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0158984" y="223113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表格切分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9848088" y="2578608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10 行按行切，每块重贴表头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48640" y="37856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切块长什么样 —— 索引里的真实数据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48640" y="4133088"/>
            <a:ext cx="3794760" cy="2212848"/>
          </a:xfrm>
          <a:prstGeom prst="roundRect">
            <a:avLst>
              <a:gd name="adj" fmla="val 3719"/>
            </a:avLst>
          </a:prstGeom>
          <a:solidFill>
            <a:srgbClr val="173449"/>
          </a:solidFill>
          <a:ln/>
        </p:spPr>
      </p:sp>
      <p:pic>
        <p:nvPicPr>
          <p:cNvPr id="39" name="Image 2" descr="D:\study\xiaoyi\ppt_build\icons\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15968"/>
            <a:ext cx="201168" cy="20116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024128" y="4261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</a:t>
            </a:r>
            <a:pPr indent="0" marL="0">
              <a:buNone/>
            </a:pPr>
            <a:r>
              <a:rPr lang="en-US" sz="9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小艺慧记：会议纪要与实时转写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1024128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 </a:t>
            </a:r>
            <a:pPr indent="0" marL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会中摘要与总结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777240" y="4956048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发言内容达 200 字可按段落生成摘要（支持自动/手动刷新）；可生成关注发言人的发言总结；支持划重点、备注、截图。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777240" y="588873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小艺慧记：会议纪要与实时转写 / 二、核心功能 / 3. 会中摘要与总结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12-功能详解-小艺慧记会议纪要.md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4526280" y="4133088"/>
            <a:ext cx="3794760" cy="2212848"/>
          </a:xfrm>
          <a:prstGeom prst="roundRect">
            <a:avLst>
              <a:gd name="adj" fmla="val 3719"/>
            </a:avLst>
          </a:prstGeom>
          <a:solidFill>
            <a:srgbClr val="173449"/>
          </a:solidFill>
          <a:ln/>
        </p:spPr>
      </p:sp>
      <p:pic>
        <p:nvPicPr>
          <p:cNvPr id="45" name="Image 3" descr="D:\study\xiaoyi\ppt_build\icons\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4315968"/>
            <a:ext cx="201168" cy="20116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001768" y="42611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 </a:t>
            </a:r>
            <a:pPr indent="0" marL="0">
              <a:buNone/>
            </a:pPr>
            <a:r>
              <a:rPr lang="en-US" sz="9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小艺慧记：会议纪要与实时转写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5001768" y="4572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 </a:t>
            </a:r>
            <a:pPr indent="0" marL="0">
              <a:buNone/>
            </a:pPr>
            <a:r>
              <a:rPr lang="en-US" sz="10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会后处理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4754880" y="4956048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 Word 文档；内容也可保存至备忘录的「小艺慧记」文件夹查看。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4754880" y="5888736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小艺慧记：会议纪要与实时转写 / 三、使用方法 / 会后处理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12-功能详解-小艺慧记会议纪要.md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8503920" y="4133088"/>
            <a:ext cx="3136392" cy="2212848"/>
          </a:xfrm>
          <a:prstGeom prst="roundRect">
            <a:avLst>
              <a:gd name="adj" fmla="val 3719"/>
            </a:avLst>
          </a:prstGeom>
          <a:solidFill>
            <a:srgbClr val="1D3E58"/>
          </a:solidFill>
          <a:ln/>
        </p:spPr>
      </p:sp>
      <p:pic>
        <p:nvPicPr>
          <p:cNvPr id="51" name="Image 4" descr="D:\study\xiaoyi\ppt_build\icons\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4297680"/>
            <a:ext cx="237744" cy="237744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9070848" y="42611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对比普通切块的优势</a:t>
            </a:r>
            <a:endParaRPr lang="en-US" sz="1200" dirty="0"/>
          </a:p>
        </p:txBody>
      </p:sp>
      <p:sp>
        <p:nvSpPr>
          <p:cNvPr id="53" name="Shape 46"/>
          <p:cNvSpPr/>
          <p:nvPr/>
        </p:nvSpPr>
        <p:spPr>
          <a:xfrm>
            <a:off x="8732520" y="4663440"/>
            <a:ext cx="2679192" cy="603504"/>
          </a:xfrm>
          <a:prstGeom prst="roundRect">
            <a:avLst>
              <a:gd name="adj" fmla="val 7576"/>
            </a:avLst>
          </a:prstGeom>
          <a:solidFill>
            <a:srgbClr val="0B1B2A"/>
          </a:solidFill>
          <a:ln/>
        </p:spPr>
      </p:sp>
      <p:sp>
        <p:nvSpPr>
          <p:cNvPr id="54" name="Text 47"/>
          <p:cNvSpPr/>
          <p:nvPr/>
        </p:nvSpPr>
        <p:spPr>
          <a:xfrm>
            <a:off x="8887968" y="4700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embed( category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questions + answer )</a:t>
            </a:r>
            <a:endParaRPr lang="en-US" sz="950" dirty="0"/>
          </a:p>
        </p:txBody>
      </p:sp>
      <p:sp>
        <p:nvSpPr>
          <p:cNvPr id="55" name="Text 48"/>
          <p:cNvSpPr/>
          <p:nvPr/>
        </p:nvSpPr>
        <p:spPr>
          <a:xfrm>
            <a:off x="8732520" y="5413248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问句式标题贴近用户问法，召回更准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category 支持筛选与目录路由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section_path 让引用定位到小节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 · 检索篇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双路召回：bge 语义 + BM25 字面，RRF 一锤定音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xiaoyi 离线 RAG 知识库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0" y="651967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50208" y="1389888"/>
            <a:ext cx="4297680" cy="475488"/>
          </a:xfrm>
          <a:prstGeom prst="roundRect">
            <a:avLst>
              <a:gd name="adj" fmla="val 50000"/>
            </a:avLst>
          </a:prstGeom>
          <a:solidFill>
            <a:srgbClr val="1D3E58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1499616"/>
            <a:ext cx="256032" cy="25603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D:\study\xiaoyi\ppt_build\icons\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6006" y="1550822"/>
            <a:ext cx="153619" cy="1536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98848" y="1389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「小艺慧记的纪要怎么导出 Word？」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flipH="1">
            <a:off x="3273552" y="1865376"/>
            <a:ext cx="2825496" cy="530352"/>
          </a:xfrm>
          <a:prstGeom prst="line">
            <a:avLst/>
          </a:prstGeom>
          <a:noFill/>
          <a:ln w="22225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99048" y="1865376"/>
            <a:ext cx="2825496" cy="530352"/>
          </a:xfrm>
          <a:prstGeom prst="line">
            <a:avLst/>
          </a:prstGeom>
          <a:noFill/>
          <a:ln w="22225">
            <a:solidFill>
              <a:srgbClr val="FFB45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48640" y="2395728"/>
            <a:ext cx="5440680" cy="2487168"/>
          </a:xfrm>
          <a:prstGeom prst="roundRect">
            <a:avLst>
              <a:gd name="adj" fmla="val 3309"/>
            </a:avLst>
          </a:prstGeom>
          <a:solidFill>
            <a:srgbClr val="173449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" y="259689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1" descr="D:\study\xiaoyi\ppt_build\icons\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19" y="2683307"/>
            <a:ext cx="211226" cy="2112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43584" y="26151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 向量检索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892040" y="265176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B4A4F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65176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语义相似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804672" y="3145536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模型：BAAI/bge-m3 · 1024 维 · OpenAI 兼容端点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嵌入内容：category + questions + answer 整块编码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强项：意思相近就能召回 ——「导出」≈「另存为」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速度：397 块全库余弦 ≈ 15 ms（纯本地内存）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99632" y="2395728"/>
            <a:ext cx="5440680" cy="2487168"/>
          </a:xfrm>
          <a:prstGeom prst="roundRect">
            <a:avLst>
              <a:gd name="adj" fmla="val 3309"/>
            </a:avLst>
          </a:prstGeom>
          <a:solidFill>
            <a:srgbClr val="173449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2596896"/>
            <a:ext cx="384048" cy="384048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21" name="Image 2" descr="D:\study\xiaoyi\ppt_build\icons\h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211" y="2683307"/>
            <a:ext cx="211226" cy="2112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94576" y="26151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关键词检索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10543032" y="2651760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55431F"/>
          </a:solidFill>
          <a:ln/>
        </p:spPr>
      </p:sp>
      <p:sp>
        <p:nvSpPr>
          <p:cNvPr id="24" name="Text 19"/>
          <p:cNvSpPr/>
          <p:nvPr/>
        </p:nvSpPr>
        <p:spPr>
          <a:xfrm>
            <a:off x="10543032" y="265176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字面匹配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455664" y="3145536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分词：中文二元组「小艺/艺慧/慧记」+ 英文数字整词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索引：倒排表 1.1 万词 · 参数 k1=1.5，b=0.75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强项：型号、专有名词精确命中，稀有词 IDF 加权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速度：只遍历含查询词的倒排链 ≈ 0.3 ms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273552" y="4882896"/>
            <a:ext cx="2395728" cy="530352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 flipH="1">
            <a:off x="6528816" y="4882896"/>
            <a:ext cx="2395728" cy="530352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2441448" y="5413248"/>
            <a:ext cx="7315200" cy="987552"/>
          </a:xfrm>
          <a:prstGeom prst="roundRect">
            <a:avLst>
              <a:gd name="adj" fmla="val 8333"/>
            </a:avLst>
          </a:prstGeom>
          <a:solidFill>
            <a:srgbClr val="1D3E58"/>
          </a:solidFill>
          <a:ln/>
        </p:spPr>
      </p:sp>
      <p:sp>
        <p:nvSpPr>
          <p:cNvPr id="29" name="Shape 24"/>
          <p:cNvSpPr/>
          <p:nvPr/>
        </p:nvSpPr>
        <p:spPr>
          <a:xfrm>
            <a:off x="2642616" y="5614416"/>
            <a:ext cx="365760" cy="365760"/>
          </a:xfrm>
          <a:prstGeom prst="ellipse">
            <a:avLst/>
          </a:prstGeom>
          <a:solidFill>
            <a:srgbClr val="2A4A63"/>
          </a:solidFill>
          <a:ln/>
        </p:spPr>
      </p:sp>
      <p:pic>
        <p:nvPicPr>
          <p:cNvPr id="30" name="Image 3" descr="D:\study\xiaoyi\ppt_build\icons\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5696712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118104" y="55046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 · 只看排名，不比分数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3118104" y="5852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两路都靠前的块排到最前 · k = 60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7086600" y="55046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score(d) = Σ 1/(60 + rank)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086600" y="58521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越小头部权重越大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 · 精排篇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从两路 TopN 到最终注入的 5 条证据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65196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xiaoyi 离线 RAG 知识库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607040" y="651967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A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468880" cy="1024128"/>
          </a:xfrm>
          <a:prstGeom prst="roundRect">
            <a:avLst>
              <a:gd name="adj" fmla="val 8036"/>
            </a:avLst>
          </a:prstGeom>
          <a:solidFill>
            <a:srgbClr val="17344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836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N = 10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2468880" cy="1024128"/>
          </a:xfrm>
          <a:prstGeom prst="roundRect">
            <a:avLst>
              <a:gd name="adj" fmla="val 8036"/>
            </a:avLst>
          </a:prstGeom>
          <a:solidFill>
            <a:srgbClr val="17344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79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BM25 召回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5409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N = 10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17520" y="1993392"/>
            <a:ext cx="438912" cy="338328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3017520" y="2825496"/>
            <a:ext cx="438912" cy="338328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93008" y="1828800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1D3E58"/>
          </a:solidFill>
          <a:ln/>
        </p:spPr>
      </p:sp>
      <p:sp>
        <p:nvSpPr>
          <p:cNvPr id="15" name="Text 13"/>
          <p:cNvSpPr/>
          <p:nvPr/>
        </p:nvSpPr>
        <p:spPr>
          <a:xfrm>
            <a:off x="3721608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RRF 融合候选池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1608" y="2249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M = 10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21608" y="2761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排名相加 · k = 60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99048" y="2569464"/>
            <a:ext cx="347472" cy="0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92240" y="1828800"/>
            <a:ext cx="2606040" cy="1481328"/>
          </a:xfrm>
          <a:prstGeom prst="roundRect">
            <a:avLst>
              <a:gd name="adj" fmla="val 5556"/>
            </a:avLst>
          </a:prstGeom>
          <a:solidFill>
            <a:srgbClr val="17344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1828800"/>
            <a:ext cx="2606040" cy="1481328"/>
          </a:xfrm>
          <a:prstGeom prst="roundRect">
            <a:avLst>
              <a:gd name="adj" fmla="val 5556"/>
            </a:avLst>
          </a:prstGeom>
          <a:ln w="19050">
            <a:solidFill>
              <a:srgbClr val="FF6B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bge-reranker 精排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22494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20840" y="2761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90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0.3 → 证据不足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98280" y="2569464"/>
            <a:ext cx="347472" cy="0"/>
          </a:xfrm>
          <a:prstGeom prst="line">
            <a:avLst/>
          </a:prstGeom>
          <a:noFill/>
          <a:ln w="22225">
            <a:solidFill>
              <a:srgbClr val="44607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91472" y="1828800"/>
            <a:ext cx="2148840" cy="1481328"/>
          </a:xfrm>
          <a:prstGeom prst="roundRect">
            <a:avLst>
              <a:gd name="adj" fmla="val 5556"/>
            </a:avLst>
          </a:prstGeom>
          <a:solidFill>
            <a:srgbClr val="173449"/>
          </a:solidFill>
          <a:ln/>
        </p:spPr>
      </p:sp>
      <p:pic>
        <p:nvPicPr>
          <p:cNvPr id="26" name="Image 0" descr="D:\study\xiaoyi\ppt_build\icons\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1993392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40112" y="19751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证据注入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710928" y="22860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5 条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710928" y="27614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小节路径 · 来源 · 相关度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48640" y="3749040"/>
            <a:ext cx="11091672" cy="2542032"/>
          </a:xfrm>
          <a:prstGeom prst="roundRect">
            <a:avLst>
              <a:gd name="adj" fmla="val 3237"/>
            </a:avLst>
          </a:prstGeom>
          <a:solidFill>
            <a:srgbClr val="173449"/>
          </a:solidFill>
          <a:ln/>
        </p:spPr>
      </p:sp>
      <p:sp>
        <p:nvSpPr>
          <p:cNvPr id="31" name="Shape 28"/>
          <p:cNvSpPr/>
          <p:nvPr/>
        </p:nvSpPr>
        <p:spPr>
          <a:xfrm>
            <a:off x="777240" y="3968496"/>
            <a:ext cx="420624" cy="420624"/>
          </a:xfrm>
          <a:prstGeom prst="ellipse">
            <a:avLst/>
          </a:prstGeom>
          <a:solidFill>
            <a:srgbClr val="FF6B81"/>
          </a:solidFill>
          <a:ln/>
        </p:spPr>
      </p:sp>
      <p:pic>
        <p:nvPicPr>
          <p:cNvPr id="32" name="Image 1" descr="D:\study\xiaoyi\ppt_build\icons\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80" y="4063136"/>
            <a:ext cx="231343" cy="231343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316736" y="39867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7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为什么还需要 bge-reranker-v2-m3 精排？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822960" y="4590288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联合编码打分：query 与候选块一起送入模型，比「各自编码再算距离」更懂是否对题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 /rerank 端点：非 OpenAI 协议，429/5xx 自动指数退避重试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309360" y="4590288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0.3 把关：最高分不过线 → 判「证据不足」，宁缺毋滥不硬答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C7D5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产出可溯源：每条证据带小节路径、来源文件与相关度，注入后综合作答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2026-09-13T07:26:21Z</dcterms:created>
  <dcterms:modified xsi:type="dcterms:W3CDTF">2026-09-13T07:26:21Z</dcterms:modified>
</cp:coreProperties>
</file>
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56" r:id="rId2"/>
  </p:sldMasterIdLst>
  <p:notesMasterIdLst>
    <p:notesMasterId r:id="rId6"/>
  </p:notesMasterIdLst>
  <p:handoutMasterIdLst>
    <p:handoutMasterId r:id="rId7"/>
  </p:handoutMasterIdLst>
  <p:sldIdLst>
    <p:sldId id="16776975" r:id="rId3"/>
    <p:sldId id="16776976" r:id="rId4"/>
    <p:sldId id="16776977" r:id="rId5"/>
  </p:sldIdLst>
  <p:sldSz cx="12192000" cy="6858000"/>
  <p:notesSz cx="9144000" cy="6858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6">
          <p15:clr>
            <a:srgbClr val="A4A3A4"/>
          </p15:clr>
        </p15:guide>
        <p15:guide id="2" pos="960">
          <p15:clr>
            <a:srgbClr val="A4A3A4"/>
          </p15:clr>
        </p15:guide>
        <p15:guide id="3" orient="horz" pos="2137">
          <p15:clr>
            <a:srgbClr val="A4A3A4"/>
          </p15:clr>
        </p15:guide>
        <p15:guide id="4" orient="horz" pos="1911">
          <p15:clr>
            <a:srgbClr val="A4A3A4"/>
          </p15:clr>
        </p15:guide>
        <p15:guide id="5" orient="horz" pos="1434">
          <p15:clr>
            <a:srgbClr val="A4A3A4"/>
          </p15:clr>
        </p15:guide>
        <p15:guide id="6" orient="horz" pos="2409">
          <p15:clr>
            <a:srgbClr val="A4A3A4"/>
          </p15:clr>
        </p15:guide>
        <p15:guide id="7" orient="horz" pos="2500">
          <p15:clr>
            <a:srgbClr val="A4A3A4"/>
          </p15:clr>
        </p15:guide>
        <p15:guide id="8" orient="horz" pos="709">
          <p15:clr>
            <a:srgbClr val="A4A3A4"/>
          </p15:clr>
        </p15:guide>
        <p15:guide id="9" orient="horz" pos="3838">
          <p15:clr>
            <a:srgbClr val="A4A3A4"/>
          </p15:clr>
        </p15:guide>
        <p15:guide id="10" pos="483">
          <p15:clr>
            <a:srgbClr val="A4A3A4"/>
          </p15:clr>
        </p15:guide>
        <p15:guide id="11" pos="642">
          <p15:clr>
            <a:srgbClr val="A4A3A4"/>
          </p15:clr>
        </p15:guide>
        <p15:guide id="12" pos="740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28" autoAdjust="0"/>
    <p:restoredTop sz="87238" autoAdjust="0"/>
  </p:normalViewPr>
  <p:slideViewPr>
    <p:cSldViewPr snapToGrid="0">
      <p:cViewPr>
        <p:scale>
          <a:sx n="100" d="100"/>
          <a:sy n="100" d="100"/>
        </p:scale>
        <p:origin x="1098" y="72"/>
      </p:cViewPr>
      <p:guideLst>
        <p:guide orient="horz" pos="1706"/>
        <p:guide pos="960"/>
        <p:guide orient="horz" pos="2137"/>
        <p:guide orient="horz" pos="1911"/>
        <p:guide orient="horz" pos="1434"/>
        <p:guide orient="horz" pos="2409"/>
        <p:guide orient="horz" pos="2500"/>
        <p:guide orient="horz" pos="709"/>
        <p:guide orient="horz" pos="3838"/>
        <p:guide pos="483"/>
        <p:guide pos="642"/>
        <p:guide pos="7401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37" d="100"/>
          <a:sy n="137" d="100"/>
        </p:scale>
        <p:origin x="1576" y="184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方正兰亭黑简体" pitchFamily="2" charset="-122"/>
              </a:defRPr>
            </a:lvl1pPr>
          </a:lstStyle>
          <a:p>
            <a:pPr>
              <a:defRPr/>
            </a:pPr>
            <a:fld id="{B472C63E-AF15-4312-8FBC-8793FA367431}" type="datetimeFigureOut">
              <a:rPr lang="zh-CN" altLang="en-US"/>
              <a:t>2026/9/13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94AB1AEA-C6B3-4C17-A018-F173440E880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defRPr>
            </a:lvl1pPr>
          </a:lstStyle>
          <a:p>
            <a:pPr>
              <a:defRPr/>
            </a:pPr>
            <a:fld id="{C7D3AFAD-6731-4E56-A8E4-26B1CF9D9C84}" type="datetimeFigureOut">
              <a:rPr lang="zh-CN" altLang="en-US"/>
              <a:t>2026/9/13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A3DA2FB9-AB08-475C-85A5-98FD49A0746A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方正兰亭黑简体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方正兰亭黑简体" pitchFamily="2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方正兰亭黑简体" pitchFamily="2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方正兰亭黑简体" pitchFamily="2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方正兰亭黑简体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为了方便用户更快的了解小艺，从权威网站分析并整理对应文档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A2FB9-AB08-475C-85A5-98FD49A0746A}" type="slidenum">
              <a:rPr lang="zh-CN" altLang="en-US" smtClean="0"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469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A78F9-8E42-50C5-2EEA-5A2A08C80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DBE62-B083-9846-E253-FE990050A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A5D3B1-53AC-7E46-3986-BCEC741E2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为了方便用户更快的了解小艺，从权威网站分析并整理对应文档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1EB9B7-59D5-3638-7AC9-52E0BF9B57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A2FB9-AB08-475C-85A5-98FD49A0746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517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794CF-572B-AAD5-6C56-62608AD04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3B8CD5-9402-2E86-60CA-C4429636B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D9543F4-F49E-2428-6BDE-2EEAE64D8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为了方便用户更快的了解小艺，从权威网站分析并整理对应文档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21485-0066-05D9-2D96-4845167340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A2FB9-AB08-475C-85A5-98FD49A0746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352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b="23589"/>
          <a:stretch>
            <a:fillRect/>
          </a:stretch>
        </p:blipFill>
        <p:spPr bwMode="auto">
          <a:xfrm>
            <a:off x="1873250" y="0"/>
            <a:ext cx="10318750" cy="524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9355138" y="5918200"/>
            <a:ext cx="2506662" cy="2619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pPr>
              <a:defRPr/>
            </a:pPr>
            <a:r>
              <a:rPr lang="zh-CN" altLang="zh-CN" sz="1100">
                <a:latin typeface="Huawei Sans" panose="020C0503030203020204" pitchFamily="34" charset="0"/>
                <a:cs typeface="Huawei Sans" panose="020C0503030203020204" pitchFamily="34" charset="0"/>
              </a:rPr>
              <a:t>Security Level：Huawei Confidential</a:t>
            </a:r>
            <a:endParaRPr kumimoji="1" lang="zh-CN" altLang="en-US" sz="110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pic>
        <p:nvPicPr>
          <p:cNvPr id="6" name="图片 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3888" y="5722938"/>
            <a:ext cx="1846262" cy="422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>
            <a:spLocks noChangeArrowheads="1"/>
          </p:cNvSpPr>
          <p:nvPr userDrawn="1"/>
        </p:nvSpPr>
        <p:spPr bwMode="auto">
          <a:xfrm>
            <a:off x="1050925" y="6356350"/>
            <a:ext cx="2506663" cy="2619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pPr>
              <a:defRPr/>
            </a:pPr>
            <a:r>
              <a:rPr lang="zh-CN" altLang="zh-CN" sz="1100" dirty="0">
                <a:latin typeface="Huawei Sans" panose="020C0503030203020204" pitchFamily="34" charset="0"/>
                <a:cs typeface="Huawei Sans" panose="020C0503030203020204" pitchFamily="34" charset="0"/>
              </a:rPr>
              <a:t>Security Level：Huawei Confidential</a:t>
            </a:r>
            <a:endParaRPr kumimoji="1" lang="zh-CN" altLang="en-US" sz="1100" dirty="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41350" y="6294438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kumimoji="1" sz="1200">
                <a:solidFill>
                  <a:srgbClr val="0D0D0D"/>
                </a:solidFill>
                <a:latin typeface="Huawei Sans" panose="020C0503030203020204" pitchFamily="34" charset="0"/>
                <a:cs typeface="Huawei Sans" panose="020C0503030203020204" pitchFamily="34" charset="0"/>
              </a:defRPr>
            </a:lvl1pPr>
          </a:lstStyle>
          <a:p>
            <a:r>
              <a:rPr lang="en-US" altLang="zh-CN"/>
              <a:t>-</a:t>
            </a:r>
            <a:fld id="{51C85D01-F40E-4161-9EA2-1F1C765C0468}" type="slidenum">
              <a:rPr lang="zh-CN" altLang="en-US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pic>
        <p:nvPicPr>
          <p:cNvPr id="5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48938" y="6330950"/>
            <a:ext cx="1249362" cy="285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41350" y="6294438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kumimoji="1" sz="1200">
                <a:solidFill>
                  <a:srgbClr val="0D0D0D"/>
                </a:solidFill>
                <a:latin typeface="Huawei Sans" panose="020C0503030203020204" pitchFamily="34" charset="0"/>
                <a:cs typeface="Huawei Sans" panose="020C0503030203020204" pitchFamily="34" charset="0"/>
              </a:defRPr>
            </a:lvl1pPr>
          </a:lstStyle>
          <a:p>
            <a:r>
              <a:rPr lang="en-US" altLang="zh-CN"/>
              <a:t>-</a:t>
            </a:r>
            <a:fld id="{9B74C2D5-FEED-4715-899E-38C6B33D7936}" type="slidenum">
              <a:rPr lang="zh-CN" altLang="en-US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pic>
        <p:nvPicPr>
          <p:cNvPr id="4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48938" y="6330950"/>
            <a:ext cx="1249362" cy="285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>
            <a:spLocks noChangeArrowheads="1"/>
          </p:cNvSpPr>
          <p:nvPr userDrawn="1"/>
        </p:nvSpPr>
        <p:spPr bwMode="auto">
          <a:xfrm>
            <a:off x="1050925" y="6356350"/>
            <a:ext cx="250666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pPr>
              <a:defRPr/>
            </a:pPr>
            <a:r>
              <a:rPr lang="zh-CN" altLang="zh-CN" sz="1100" dirty="0">
                <a:latin typeface="Huawei Sans" panose="020C0503030203020204" pitchFamily="34" charset="0"/>
                <a:cs typeface="Huawei Sans" panose="020C0503030203020204" pitchFamily="34" charset="0"/>
              </a:rPr>
              <a:t>Security Level：Huawei Confidential</a:t>
            </a:r>
            <a:endParaRPr kumimoji="1" lang="zh-CN" altLang="en-US" sz="1100" dirty="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41350" y="62944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kumimoji="1" sz="1200">
                <a:solidFill>
                  <a:schemeClr val="tx1">
                    <a:lumMod val="95000"/>
                    <a:lumOff val="5000"/>
                  </a:schemeClr>
                </a:solidFill>
                <a:latin typeface="Huawei Sans" panose="020C0503030203020204" pitchFamily="34" charset="0"/>
                <a:ea typeface="方正兰亭黑简体" pitchFamily="2" charset="-122"/>
                <a:cs typeface="Huawei Sans" panose="020C0503030203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E8C452DA-F1B4-4387-88D2-FD96FA08D546}" type="slidenum">
              <a:rPr lang="zh-CN" altLang="en-US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pic>
        <p:nvPicPr>
          <p:cNvPr id="5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48938" y="6330950"/>
            <a:ext cx="1249362" cy="285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41350" y="62944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kumimoji="1" sz="1200">
                <a:solidFill>
                  <a:schemeClr val="tx1">
                    <a:lumMod val="95000"/>
                    <a:lumOff val="5000"/>
                  </a:schemeClr>
                </a:solidFill>
                <a:latin typeface="Huawei Sans" panose="020C0503030203020204" pitchFamily="34" charset="0"/>
                <a:ea typeface="方正兰亭黑简体" pitchFamily="2" charset="-122"/>
                <a:cs typeface="Huawei Sans" panose="020C0503030203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02E7902B-00C1-4DB1-9671-4B3BFB84EC8E}" type="slidenum">
              <a:rPr lang="zh-CN" altLang="en-US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pic>
        <p:nvPicPr>
          <p:cNvPr id="4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48938" y="6330950"/>
            <a:ext cx="1249362" cy="285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bg1">
            <a:alpha val="47058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3938" y="5718175"/>
            <a:ext cx="183197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lIns="91418" tIns="45708" rIns="91418" bIns="45708"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lIns="91418" tIns="45708" rIns="91418" bIns="45708"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方正兰亭黑简体" pitchFamily="2" charset="-122"/>
          <a:ea typeface="方正兰亭黑简体" pitchFamily="2" charset="-122"/>
          <a:cs typeface="方正兰亭黑简体" pitchFamily="2" charset="-122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方正兰亭黑简体" pitchFamily="2" charset="-122"/>
          <a:ea typeface="方正兰亭黑简体" pitchFamily="2" charset="-122"/>
          <a:cs typeface="方正兰亭黑简体" pitchFamily="2" charset="-122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方正兰亭黑简体" pitchFamily="2" charset="-122"/>
          <a:ea typeface="方正兰亭黑简体" pitchFamily="2" charset="-122"/>
          <a:cs typeface="方正兰亭黑简体" pitchFamily="2" charset="-122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方正兰亭黑简体" pitchFamily="2" charset="-122"/>
          <a:ea typeface="方正兰亭黑简体" pitchFamily="2" charset="-122"/>
          <a:cs typeface="方正兰亭黑简体" pitchFamily="2" charset="-122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方正兰亭黑简体" pitchFamily="2" charset="-122"/>
          <a:ea typeface="方正兰亭黑简体" pitchFamily="2" charset="-122"/>
          <a:cs typeface="方正兰亭黑简体" pitchFamily="2" charset="-122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方正兰亭黑简体" pitchFamily="2" charset="-122"/>
          <a:ea typeface="方正兰亭黑简体" pitchFamily="2" charset="-122"/>
          <a:cs typeface="方正兰亭黑简体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040" y="6356939"/>
            <a:ext cx="1462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2" y="2625390"/>
            <a:ext cx="1962556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图像" descr="图像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93706" y="6271070"/>
            <a:ext cx="1455693" cy="31850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8" name="图片 4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867638" y="6376821"/>
            <a:ext cx="996633" cy="21095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65163" y="63230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r>
              <a:rPr lang="en-US" altLang="zh-CN">
                <a:solidFill>
                  <a:srgbClr val="0D0D0D"/>
                </a:solidFill>
                <a:latin typeface="Huawei Sans" panose="020C0503030203020204" pitchFamily="34" charset="0"/>
              </a:rPr>
              <a:t>-</a:t>
            </a:r>
            <a:fld id="{E644F1D8-075D-425C-B135-767E88DACD2B}" type="slidenum">
              <a:rPr lang="zh-CN" altLang="en-US">
                <a:solidFill>
                  <a:srgbClr val="0D0D0D"/>
                </a:solidFill>
                <a:latin typeface="Huawei Sans" panose="020C0503030203020204" pitchFamily="34" charset="0"/>
              </a:rPr>
              <a:t>0</a:t>
            </a:fld>
            <a:r>
              <a:rPr lang="en-US" altLang="zh-CN">
                <a:solidFill>
                  <a:srgbClr val="0D0D0D"/>
                </a:solidFill>
                <a:latin typeface="Huawei Sans" panose="020C0503030203020204" pitchFamily="34" charset="0"/>
              </a:rPr>
              <a:t>-</a:t>
            </a:r>
            <a:endParaRPr lang="zh-CN" altLang="en-US">
              <a:solidFill>
                <a:srgbClr val="0D0D0D"/>
              </a:solidFill>
              <a:latin typeface="Huawei Sans" panose="020C0503030203020204" pitchFamily="34" charset="0"/>
            </a:endParaRPr>
          </a:p>
        </p:txBody>
      </p:sp>
      <p:sp>
        <p:nvSpPr>
          <p:cNvPr id="4" name="副标题 1"/>
          <p:cNvSpPr txBox="1"/>
          <p:nvPr/>
        </p:nvSpPr>
        <p:spPr>
          <a:xfrm>
            <a:off x="301625" y="197064"/>
            <a:ext cx="4224683" cy="41549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89090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48463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207835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67208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31292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35864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40436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45008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pPr algn="l" eaLnBrk="1" hangingPunct="1">
              <a:buFont typeface="Arial" panose="020B0604020202020204" pitchFamily="34" charset="0"/>
              <a:buNone/>
            </a:pPr>
            <a:r>
              <a:rPr lang="zh-CN" altLang="en-US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特色功能：小艺知</a:t>
            </a:r>
            <a:r>
              <a:rPr lang="zh-CN" altLang="en-US" sz="27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识库</a:t>
            </a:r>
            <a:r>
              <a:rPr lang="en-US" altLang="zh-CN" sz="27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RAG</a:t>
            </a:r>
            <a:endParaRPr lang="en-US" altLang="zh-CN" sz="27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副标题 1">
            <a:extLst>
              <a:ext uri="{FF2B5EF4-FFF2-40B4-BE49-F238E27FC236}">
                <a16:creationId xmlns:a16="http://schemas.microsoft.com/office/drawing/2014/main" id="{5A233D52-38F8-94AF-6F52-30D5B12BE68D}"/>
              </a:ext>
            </a:extLst>
          </p:cNvPr>
          <p:cNvSpPr txBox="1"/>
          <p:nvPr/>
        </p:nvSpPr>
        <p:spPr>
          <a:xfrm>
            <a:off x="301625" y="1535565"/>
            <a:ext cx="4623766" cy="276999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89090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48463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207835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67208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31292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35864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40436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45008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离线知识库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从Markdown到可检索的Trunk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46B898-4AF2-70C6-91B2-B30401B548B9}"/>
              </a:ext>
            </a:extLst>
          </p:cNvPr>
          <p:cNvSpPr txBox="1"/>
          <p:nvPr/>
        </p:nvSpPr>
        <p:spPr>
          <a:xfrm>
            <a:off x="185165" y="649258"/>
            <a:ext cx="11334751" cy="75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RAG?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检索增强生成：回答前先查本地知识库，把带出处的证据注入大模型上下文，而不是靠模型凭空编造。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13">
            <a:extLst>
              <a:ext uri="{FF2B5EF4-FFF2-40B4-BE49-F238E27FC236}">
                <a16:creationId xmlns:a16="http://schemas.microsoft.com/office/drawing/2014/main" id="{1CFB67C6-748B-CC53-1520-9099738431AA}"/>
              </a:ext>
            </a:extLst>
          </p:cNvPr>
          <p:cNvSpPr/>
          <p:nvPr/>
        </p:nvSpPr>
        <p:spPr>
          <a:xfrm>
            <a:off x="301625" y="1956069"/>
            <a:ext cx="1737360" cy="1353312"/>
          </a:xfrm>
          <a:prstGeom prst="roundRect">
            <a:avLst>
              <a:gd name="adj" fmla="val 4054"/>
            </a:avLst>
          </a:prstGeom>
          <a:solidFill>
            <a:srgbClr val="1D3E58"/>
          </a:solidFill>
          <a:ln/>
        </p:spPr>
      </p:sp>
      <p:sp>
        <p:nvSpPr>
          <p:cNvPr id="10" name="Shape 14">
            <a:extLst>
              <a:ext uri="{FF2B5EF4-FFF2-40B4-BE49-F238E27FC236}">
                <a16:creationId xmlns:a16="http://schemas.microsoft.com/office/drawing/2014/main" id="{83390DB2-C046-D562-FDAD-D708A30CE1EF}"/>
              </a:ext>
            </a:extLst>
          </p:cNvPr>
          <p:cNvSpPr/>
          <p:nvPr/>
        </p:nvSpPr>
        <p:spPr>
          <a:xfrm>
            <a:off x="420497" y="2074941"/>
            <a:ext cx="237744" cy="23774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7E386E6C-8A36-9110-B939-AE5A05A953BB}"/>
              </a:ext>
            </a:extLst>
          </p:cNvPr>
          <p:cNvSpPr/>
          <p:nvPr/>
        </p:nvSpPr>
        <p:spPr>
          <a:xfrm>
            <a:off x="420497" y="207494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EEA4957A-798A-07E7-C70A-4B07EA24F613}"/>
              </a:ext>
            </a:extLst>
          </p:cNvPr>
          <p:cNvSpPr/>
          <p:nvPr/>
        </p:nvSpPr>
        <p:spPr>
          <a:xfrm>
            <a:off x="731393" y="2065797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按标题分节</a:t>
            </a:r>
            <a:endParaRPr lang="en-US" sz="1050" dirty="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A1CBFFEE-5D37-10A9-4CB8-C5DA24702326}"/>
              </a:ext>
            </a:extLst>
          </p:cNvPr>
          <p:cNvSpPr/>
          <p:nvPr/>
        </p:nvSpPr>
        <p:spPr>
          <a:xfrm>
            <a:off x="420497" y="2413269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h1–h4 逐级切分小节，标题全路径存入 section_path</a:t>
            </a:r>
            <a:endParaRPr lang="en-US" sz="800" dirty="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E074B1A8-5F5D-8F9E-E94A-B4ABB5737D5B}"/>
              </a:ext>
            </a:extLst>
          </p:cNvPr>
          <p:cNvSpPr/>
          <p:nvPr/>
        </p:nvSpPr>
        <p:spPr>
          <a:xfrm>
            <a:off x="2112137" y="1956069"/>
            <a:ext cx="1737360" cy="1353312"/>
          </a:xfrm>
          <a:prstGeom prst="roundRect">
            <a:avLst>
              <a:gd name="adj" fmla="val 4054"/>
            </a:avLst>
          </a:prstGeom>
          <a:solidFill>
            <a:srgbClr val="1D3E58"/>
          </a:solidFill>
          <a:ln/>
        </p:spPr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29B7C41D-E22A-764A-F8F4-CBA4D823C8CD}"/>
              </a:ext>
            </a:extLst>
          </p:cNvPr>
          <p:cNvSpPr/>
          <p:nvPr/>
        </p:nvSpPr>
        <p:spPr>
          <a:xfrm>
            <a:off x="2231009" y="2074941"/>
            <a:ext cx="237744" cy="23774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BF8AD38-9F40-7CA5-82A4-8D4C376C0675}"/>
              </a:ext>
            </a:extLst>
          </p:cNvPr>
          <p:cNvSpPr/>
          <p:nvPr/>
        </p:nvSpPr>
        <p:spPr>
          <a:xfrm>
            <a:off x="2231009" y="207494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4CB99FB0-D390-67B6-4B0F-6FEDFDD39BF5}"/>
              </a:ext>
            </a:extLst>
          </p:cNvPr>
          <p:cNvSpPr/>
          <p:nvPr/>
        </p:nvSpPr>
        <p:spPr>
          <a:xfrm>
            <a:off x="2541905" y="2065797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递归切分</a:t>
            </a:r>
            <a:endParaRPr lang="en-US" sz="105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91058FCE-4B7F-7699-CE36-24E32135E12F}"/>
              </a:ext>
            </a:extLst>
          </p:cNvPr>
          <p:cNvSpPr/>
          <p:nvPr/>
        </p:nvSpPr>
        <p:spPr>
          <a:xfrm>
            <a:off x="2231009" y="2413269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单块 ≤ 500 字：段落→换行→句号→逐字</a:t>
            </a:r>
            <a:endParaRPr lang="en-US" sz="800" dirty="0"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F952BAA3-9507-7C07-C711-FC0BCEB02881}"/>
              </a:ext>
            </a:extLst>
          </p:cNvPr>
          <p:cNvSpPr/>
          <p:nvPr/>
        </p:nvSpPr>
        <p:spPr>
          <a:xfrm>
            <a:off x="3922649" y="1956069"/>
            <a:ext cx="1737360" cy="1353312"/>
          </a:xfrm>
          <a:prstGeom prst="roundRect">
            <a:avLst>
              <a:gd name="adj" fmla="val 4054"/>
            </a:avLst>
          </a:prstGeom>
          <a:solidFill>
            <a:srgbClr val="1D3E58"/>
          </a:solidFill>
          <a:ln/>
        </p:spPr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139ABE60-DB67-9ACD-EB9C-557550C7A87E}"/>
              </a:ext>
            </a:extLst>
          </p:cNvPr>
          <p:cNvSpPr/>
          <p:nvPr/>
        </p:nvSpPr>
        <p:spPr>
          <a:xfrm>
            <a:off x="4041521" y="2074941"/>
            <a:ext cx="237744" cy="23774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181D02B9-A1B1-A503-349F-5134B66267BF}"/>
              </a:ext>
            </a:extLst>
          </p:cNvPr>
          <p:cNvSpPr/>
          <p:nvPr/>
        </p:nvSpPr>
        <p:spPr>
          <a:xfrm>
            <a:off x="4041521" y="207494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DA7B9EBE-BB80-3FFD-AD49-98F3771B702A}"/>
              </a:ext>
            </a:extLst>
          </p:cNvPr>
          <p:cNvSpPr/>
          <p:nvPr/>
        </p:nvSpPr>
        <p:spPr>
          <a:xfrm>
            <a:off x="4352417" y="2065797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句级重叠</a:t>
            </a:r>
            <a:endParaRPr lang="en-US" sz="1050" dirty="0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14721E87-8FE7-1D34-E4A1-367E57A9B2BB}"/>
              </a:ext>
            </a:extLst>
          </p:cNvPr>
          <p:cNvSpPr/>
          <p:nvPr/>
        </p:nvSpPr>
        <p:spPr>
          <a:xfrm>
            <a:off x="4041521" y="2413269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overlap = 100：上一块结尾完整句接到下一块开头</a:t>
            </a:r>
            <a:endParaRPr lang="en-US" sz="800" dirty="0"/>
          </a:p>
        </p:txBody>
      </p:sp>
      <p:sp>
        <p:nvSpPr>
          <p:cNvPr id="38" name="Shape 28">
            <a:extLst>
              <a:ext uri="{FF2B5EF4-FFF2-40B4-BE49-F238E27FC236}">
                <a16:creationId xmlns:a16="http://schemas.microsoft.com/office/drawing/2014/main" id="{E8B826B6-5FCF-9EA4-F0D1-128F3A6F352A}"/>
              </a:ext>
            </a:extLst>
          </p:cNvPr>
          <p:cNvSpPr/>
          <p:nvPr/>
        </p:nvSpPr>
        <p:spPr>
          <a:xfrm>
            <a:off x="5733161" y="1956069"/>
            <a:ext cx="1737360" cy="1353312"/>
          </a:xfrm>
          <a:prstGeom prst="roundRect">
            <a:avLst>
              <a:gd name="adj" fmla="val 4054"/>
            </a:avLst>
          </a:prstGeom>
          <a:solidFill>
            <a:srgbClr val="1D3E58"/>
          </a:solidFill>
          <a:ln/>
        </p:spPr>
      </p:sp>
      <p:sp>
        <p:nvSpPr>
          <p:cNvPr id="40" name="Shape 29">
            <a:extLst>
              <a:ext uri="{FF2B5EF4-FFF2-40B4-BE49-F238E27FC236}">
                <a16:creationId xmlns:a16="http://schemas.microsoft.com/office/drawing/2014/main" id="{22F25B20-5C16-3BE4-E32E-DF0512B5DCFB}"/>
              </a:ext>
            </a:extLst>
          </p:cNvPr>
          <p:cNvSpPr/>
          <p:nvPr/>
        </p:nvSpPr>
        <p:spPr>
          <a:xfrm>
            <a:off x="5852033" y="2074941"/>
            <a:ext cx="237744" cy="23774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2" name="Text 30">
            <a:extLst>
              <a:ext uri="{FF2B5EF4-FFF2-40B4-BE49-F238E27FC236}">
                <a16:creationId xmlns:a16="http://schemas.microsoft.com/office/drawing/2014/main" id="{847EDD7A-2F18-06E9-FD06-C12CE4C69F94}"/>
              </a:ext>
            </a:extLst>
          </p:cNvPr>
          <p:cNvSpPr/>
          <p:nvPr/>
        </p:nvSpPr>
        <p:spPr>
          <a:xfrm>
            <a:off x="5852033" y="207494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31">
            <a:extLst>
              <a:ext uri="{FF2B5EF4-FFF2-40B4-BE49-F238E27FC236}">
                <a16:creationId xmlns:a16="http://schemas.microsoft.com/office/drawing/2014/main" id="{F29B69E1-586B-AF6B-085E-3B18C3A0413F}"/>
              </a:ext>
            </a:extLst>
          </p:cNvPr>
          <p:cNvSpPr/>
          <p:nvPr/>
        </p:nvSpPr>
        <p:spPr>
          <a:xfrm>
            <a:off x="6162929" y="2065797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表格切分</a:t>
            </a:r>
            <a:endParaRPr lang="en-US" sz="1050" dirty="0"/>
          </a:p>
        </p:txBody>
      </p:sp>
      <p:sp>
        <p:nvSpPr>
          <p:cNvPr id="46" name="Text 32">
            <a:extLst>
              <a:ext uri="{FF2B5EF4-FFF2-40B4-BE49-F238E27FC236}">
                <a16:creationId xmlns:a16="http://schemas.microsoft.com/office/drawing/2014/main" id="{357425E6-126E-F003-47BB-65E6D37964A6}"/>
              </a:ext>
            </a:extLst>
          </p:cNvPr>
          <p:cNvSpPr/>
          <p:nvPr/>
        </p:nvSpPr>
        <p:spPr>
          <a:xfrm>
            <a:off x="5852033" y="2413269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 10 行按行切，每块重贴表头</a:t>
            </a:r>
            <a:endParaRPr lang="en-US" sz="800" dirty="0"/>
          </a:p>
        </p:txBody>
      </p:sp>
      <p:sp>
        <p:nvSpPr>
          <p:cNvPr id="48" name="副标题 1">
            <a:extLst>
              <a:ext uri="{FF2B5EF4-FFF2-40B4-BE49-F238E27FC236}">
                <a16:creationId xmlns:a16="http://schemas.microsoft.com/office/drawing/2014/main" id="{AA371008-9EFB-7D34-50F3-86DBE92B0EA9}"/>
              </a:ext>
            </a:extLst>
          </p:cNvPr>
          <p:cNvSpPr txBox="1"/>
          <p:nvPr/>
        </p:nvSpPr>
        <p:spPr>
          <a:xfrm>
            <a:off x="301625" y="3452886"/>
            <a:ext cx="4623766" cy="2769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89090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48463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207835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67208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31292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35864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40436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45008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Trunk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形式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A53B6AC-58E3-ABD8-1854-B39C2EC76D80}"/>
              </a:ext>
            </a:extLst>
          </p:cNvPr>
          <p:cNvSpPr txBox="1"/>
          <p:nvPr/>
        </p:nvSpPr>
        <p:spPr>
          <a:xfrm>
            <a:off x="204565" y="3766581"/>
            <a:ext cx="72898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zh-CN" altLang="zh-CN" sz="16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category = 车载小艺与腕上小艺 （h1）</a:t>
            </a:r>
          </a:p>
          <a:p>
            <a:pPr indent="0" algn="l">
              <a:buNone/>
            </a:pPr>
            <a:r>
              <a:rPr lang="zh-CN" altLang="zh-CN" sz="16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questions = 1. 鸿蒙座舱能力（HarmonySpace / MoLA 架构） （最深小节标题）</a:t>
            </a:r>
          </a:p>
          <a:p>
            <a:pPr indent="0" algn="l">
              <a:buNone/>
            </a:pPr>
            <a:r>
              <a:rPr lang="zh-CN" altLang="zh-CN" sz="16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answer = | 版本 | 要点 |</a:t>
            </a:r>
          </a:p>
          <a:p>
            <a:pPr indent="0" algn="l">
              <a:buNone/>
            </a:pPr>
            <a:r>
              <a:rPr lang="en-US" altLang="zh-CN" sz="16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zh-CN" sz="16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| 鸿蒙座舱 4.0（问界 M9 等） | … |</a:t>
            </a:r>
          </a:p>
          <a:p>
            <a:pPr indent="0" algn="l">
              <a:buNone/>
            </a:pPr>
            <a:r>
              <a:rPr lang="en-US" altLang="zh-CN" sz="16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zh-CN" sz="16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| 鸿蒙座舱 HarmonySpace 6（2026-04-23） | … | （349 字）</a:t>
            </a:r>
          </a:p>
          <a:p>
            <a:pPr indent="0" algn="l">
              <a:buNone/>
            </a:pPr>
            <a:r>
              <a:rPr lang="zh-CN" altLang="zh-CN" sz="16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section_path = 车载小艺与腕上小艺 / 一、车载小艺… / 1. 鸿蒙座舱能力…</a:t>
            </a:r>
            <a:endParaRPr lang="zh-CN" altLang="zh-CN" sz="1600" b="0" i="0" spc="26">
              <a:solidFill>
                <a:srgbClr val="E1E4E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875B2-7951-4E93-0F06-5B0E6996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>
            <a:extLst>
              <a:ext uri="{FF2B5EF4-FFF2-40B4-BE49-F238E27FC236}">
                <a16:creationId xmlns:a16="http://schemas.microsoft.com/office/drawing/2014/main" id="{393C7151-C672-D4A6-CB62-E0A8FE6B2F9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65163" y="63230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r>
              <a:rPr lang="en-US" altLang="zh-CN">
                <a:solidFill>
                  <a:srgbClr val="0D0D0D"/>
                </a:solidFill>
                <a:latin typeface="Huawei Sans" panose="020C0503030203020204" pitchFamily="34" charset="0"/>
              </a:rPr>
              <a:t>-</a:t>
            </a:r>
            <a:fld id="{E644F1D8-075D-425C-B135-767E88DACD2B}" type="slidenum">
              <a:rPr lang="zh-CN" altLang="en-US">
                <a:solidFill>
                  <a:srgbClr val="0D0D0D"/>
                </a:solidFill>
                <a:latin typeface="Huawei Sans" panose="020C0503030203020204" pitchFamily="34" charset="0"/>
              </a:rPr>
              <a:t>1</a:t>
            </a:fld>
            <a:r>
              <a:rPr lang="en-US" altLang="zh-CN">
                <a:solidFill>
                  <a:srgbClr val="0D0D0D"/>
                </a:solidFill>
                <a:latin typeface="Huawei Sans" panose="020C0503030203020204" pitchFamily="34" charset="0"/>
              </a:rPr>
              <a:t>-</a:t>
            </a:r>
            <a:endParaRPr lang="zh-CN" altLang="en-US">
              <a:solidFill>
                <a:srgbClr val="0D0D0D"/>
              </a:solidFill>
              <a:latin typeface="Huawei Sans" panose="020C0503030203020204" pitchFamily="34" charset="0"/>
            </a:endParaRPr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4214C104-6089-CCEE-FF38-E0AA157D5371}"/>
              </a:ext>
            </a:extLst>
          </p:cNvPr>
          <p:cNvSpPr txBox="1"/>
          <p:nvPr/>
        </p:nvSpPr>
        <p:spPr>
          <a:xfrm>
            <a:off x="301625" y="197064"/>
            <a:ext cx="4224683" cy="41549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89090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48463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207835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67208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31292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35864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40436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45008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pPr algn="l" eaLnBrk="1" hangingPunct="1">
              <a:buFont typeface="Arial" panose="020B0604020202020204" pitchFamily="34" charset="0"/>
              <a:buNone/>
            </a:pPr>
            <a:r>
              <a:rPr lang="zh-CN" altLang="en-US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特色功能：小艺知</a:t>
            </a:r>
            <a:r>
              <a:rPr lang="zh-CN" altLang="en-US" sz="27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识库</a:t>
            </a:r>
            <a:r>
              <a:rPr lang="en-US" altLang="zh-CN" sz="27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RAG</a:t>
            </a:r>
            <a:endParaRPr lang="en-US" altLang="zh-CN" sz="27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AC8A41-263D-DAB4-9F06-D0D56BBEF2BB}"/>
              </a:ext>
            </a:extLst>
          </p:cNvPr>
          <p:cNvSpPr txBox="1"/>
          <p:nvPr/>
        </p:nvSpPr>
        <p:spPr>
          <a:xfrm>
            <a:off x="300039" y="638840"/>
            <a:ext cx="8139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双路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并行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召回：bge语义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检索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+ BM25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字面检索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，RRF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加权排名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86E2E09-07B6-FDE2-FC6C-19DC1AB86825}"/>
              </a:ext>
            </a:extLst>
          </p:cNvPr>
          <p:cNvSpPr/>
          <p:nvPr/>
        </p:nvSpPr>
        <p:spPr>
          <a:xfrm>
            <a:off x="3893058" y="1034450"/>
            <a:ext cx="4297680" cy="475488"/>
          </a:xfrm>
          <a:prstGeom prst="roundRect">
            <a:avLst>
              <a:gd name="adj" fmla="val 50000"/>
            </a:avLst>
          </a:prstGeom>
          <a:solidFill>
            <a:srgbClr val="1D3E58"/>
          </a:solidFill>
          <a:ln/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C1173FDA-36A1-56F1-6F98-1D733BFC137C}"/>
              </a:ext>
            </a:extLst>
          </p:cNvPr>
          <p:cNvSpPr/>
          <p:nvPr/>
        </p:nvSpPr>
        <p:spPr>
          <a:xfrm>
            <a:off x="4057650" y="1144178"/>
            <a:ext cx="256032" cy="256032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3" name="Image 0" descr="D:\study\xiaoyi\ppt_build\icons\search.png">
            <a:extLst>
              <a:ext uri="{FF2B5EF4-FFF2-40B4-BE49-F238E27FC236}">
                <a16:creationId xmlns:a16="http://schemas.microsoft.com/office/drawing/2014/main" id="{4A6C5DCD-6214-782A-1F45-AC4C41033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856" y="1195384"/>
            <a:ext cx="153619" cy="153619"/>
          </a:xfrm>
          <a:prstGeom prst="rect">
            <a:avLst/>
          </a:prstGeom>
        </p:spPr>
      </p:pic>
      <p:sp>
        <p:nvSpPr>
          <p:cNvPr id="17" name="Text 6">
            <a:extLst>
              <a:ext uri="{FF2B5EF4-FFF2-40B4-BE49-F238E27FC236}">
                <a16:creationId xmlns:a16="http://schemas.microsoft.com/office/drawing/2014/main" id="{74266219-106F-A356-ED1D-269D3990848D}"/>
              </a:ext>
            </a:extLst>
          </p:cNvPr>
          <p:cNvSpPr/>
          <p:nvPr/>
        </p:nvSpPr>
        <p:spPr>
          <a:xfrm>
            <a:off x="4441698" y="103445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「小艺慧记的纪要怎么导出 Word？」</a:t>
            </a:r>
            <a:endParaRPr lang="en-US" sz="1100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99E9870C-C9F8-FF74-2A7F-80FD60298AA0}"/>
              </a:ext>
            </a:extLst>
          </p:cNvPr>
          <p:cNvSpPr/>
          <p:nvPr/>
        </p:nvSpPr>
        <p:spPr>
          <a:xfrm flipH="1">
            <a:off x="3216402" y="1509938"/>
            <a:ext cx="2825496" cy="530352"/>
          </a:xfrm>
          <a:prstGeom prst="line">
            <a:avLst/>
          </a:prstGeom>
          <a:noFill/>
          <a:ln w="22225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AEE0A329-BC2E-E0F5-4A06-998482489DB4}"/>
              </a:ext>
            </a:extLst>
          </p:cNvPr>
          <p:cNvSpPr/>
          <p:nvPr/>
        </p:nvSpPr>
        <p:spPr>
          <a:xfrm>
            <a:off x="6041898" y="1509938"/>
            <a:ext cx="2825496" cy="530352"/>
          </a:xfrm>
          <a:prstGeom prst="line">
            <a:avLst/>
          </a:prstGeom>
          <a:noFill/>
          <a:ln w="22225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33BEF6E2-DCDF-4EEC-DD7F-57A67BDE349D}"/>
              </a:ext>
            </a:extLst>
          </p:cNvPr>
          <p:cNvSpPr/>
          <p:nvPr/>
        </p:nvSpPr>
        <p:spPr>
          <a:xfrm>
            <a:off x="491490" y="2040290"/>
            <a:ext cx="5440680" cy="2487168"/>
          </a:xfrm>
          <a:prstGeom prst="roundRect">
            <a:avLst>
              <a:gd name="adj" fmla="val 3309"/>
            </a:avLst>
          </a:prstGeom>
          <a:solidFill>
            <a:srgbClr val="173449"/>
          </a:solidFill>
          <a:ln/>
        </p:spPr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9C36DCC0-5C2D-4EC5-7B9A-D2C9C2210E43}"/>
              </a:ext>
            </a:extLst>
          </p:cNvPr>
          <p:cNvSpPr/>
          <p:nvPr/>
        </p:nvSpPr>
        <p:spPr>
          <a:xfrm>
            <a:off x="692658" y="2241458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7" name="Image 1" descr="D:\study\xiaoyi\ppt_build\icons\brain.png">
            <a:extLst>
              <a:ext uri="{FF2B5EF4-FFF2-40B4-BE49-F238E27FC236}">
                <a16:creationId xmlns:a16="http://schemas.microsoft.com/office/drawing/2014/main" id="{C72E36A2-E45F-5A56-2D8E-A1BCEFB9F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9" y="2327869"/>
            <a:ext cx="211226" cy="211226"/>
          </a:xfrm>
          <a:prstGeom prst="rect">
            <a:avLst/>
          </a:prstGeom>
        </p:spPr>
      </p:pic>
      <p:sp>
        <p:nvSpPr>
          <p:cNvPr id="41" name="Text 11">
            <a:extLst>
              <a:ext uri="{FF2B5EF4-FFF2-40B4-BE49-F238E27FC236}">
                <a16:creationId xmlns:a16="http://schemas.microsoft.com/office/drawing/2014/main" id="{3052EC89-2319-E4D2-5019-026C3124FE3D}"/>
              </a:ext>
            </a:extLst>
          </p:cNvPr>
          <p:cNvSpPr/>
          <p:nvPr/>
        </p:nvSpPr>
        <p:spPr>
          <a:xfrm>
            <a:off x="1186434" y="225974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bge-m3 向量检索</a:t>
            </a:r>
            <a:endParaRPr lang="en-US" sz="1400" dirty="0"/>
          </a:p>
        </p:txBody>
      </p:sp>
      <p:sp>
        <p:nvSpPr>
          <p:cNvPr id="45" name="Shape 12">
            <a:extLst>
              <a:ext uri="{FF2B5EF4-FFF2-40B4-BE49-F238E27FC236}">
                <a16:creationId xmlns:a16="http://schemas.microsoft.com/office/drawing/2014/main" id="{4791C405-A111-6644-CF4F-3C713C60BDD9}"/>
              </a:ext>
            </a:extLst>
          </p:cNvPr>
          <p:cNvSpPr/>
          <p:nvPr/>
        </p:nvSpPr>
        <p:spPr>
          <a:xfrm>
            <a:off x="4834890" y="229632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1B4A4F"/>
          </a:solidFill>
          <a:ln/>
        </p:spPr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1441B8EA-C4AA-0775-250E-1A8C0C15E8E3}"/>
              </a:ext>
            </a:extLst>
          </p:cNvPr>
          <p:cNvSpPr/>
          <p:nvPr/>
        </p:nvSpPr>
        <p:spPr>
          <a:xfrm>
            <a:off x="4834890" y="229632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语义相似</a:t>
            </a:r>
            <a:endParaRPr lang="en-US" sz="850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3C37C9C3-57F7-DD4E-697C-2C292D67165E}"/>
              </a:ext>
            </a:extLst>
          </p:cNvPr>
          <p:cNvSpPr/>
          <p:nvPr/>
        </p:nvSpPr>
        <p:spPr>
          <a:xfrm>
            <a:off x="747522" y="279009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模型：BAAI/bge-m3 · 1024 维 · OpenAI 兼容端点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嵌入内容：category + questions + answer 整块编码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强项：意思相近就能召回 ——「导出」≈「另存为」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速度：397 块全库余弦 ≈ 15 ms（纯本地内存）</a:t>
            </a:r>
            <a:endParaRPr lang="en-US" sz="1000" dirty="0"/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ECE44CB6-F9E0-482C-7000-4440EB39EDED}"/>
              </a:ext>
            </a:extLst>
          </p:cNvPr>
          <p:cNvSpPr/>
          <p:nvPr/>
        </p:nvSpPr>
        <p:spPr>
          <a:xfrm>
            <a:off x="6142482" y="2040290"/>
            <a:ext cx="5440680" cy="2487168"/>
          </a:xfrm>
          <a:prstGeom prst="roundRect">
            <a:avLst>
              <a:gd name="adj" fmla="val 3309"/>
            </a:avLst>
          </a:prstGeom>
          <a:solidFill>
            <a:srgbClr val="173449"/>
          </a:solidFill>
          <a:ln/>
        </p:spPr>
      </p:sp>
      <p:sp>
        <p:nvSpPr>
          <p:cNvPr id="56" name="Shape 16">
            <a:extLst>
              <a:ext uri="{FF2B5EF4-FFF2-40B4-BE49-F238E27FC236}">
                <a16:creationId xmlns:a16="http://schemas.microsoft.com/office/drawing/2014/main" id="{22BD7414-161F-84B6-0B14-1EAA04D2F514}"/>
              </a:ext>
            </a:extLst>
          </p:cNvPr>
          <p:cNvSpPr/>
          <p:nvPr/>
        </p:nvSpPr>
        <p:spPr>
          <a:xfrm>
            <a:off x="6343650" y="2241458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pic>
        <p:nvPicPr>
          <p:cNvPr id="58" name="Image 2" descr="D:\study\xiaoyi\ppt_build\icons\hash.png">
            <a:extLst>
              <a:ext uri="{FF2B5EF4-FFF2-40B4-BE49-F238E27FC236}">
                <a16:creationId xmlns:a16="http://schemas.microsoft.com/office/drawing/2014/main" id="{C43493E6-E145-2CF3-2461-293699CCBC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061" y="2327869"/>
            <a:ext cx="211226" cy="211226"/>
          </a:xfrm>
          <a:prstGeom prst="rect">
            <a:avLst/>
          </a:prstGeom>
        </p:spPr>
      </p:pic>
      <p:sp>
        <p:nvSpPr>
          <p:cNvPr id="60" name="Text 17">
            <a:extLst>
              <a:ext uri="{FF2B5EF4-FFF2-40B4-BE49-F238E27FC236}">
                <a16:creationId xmlns:a16="http://schemas.microsoft.com/office/drawing/2014/main" id="{2847A4B1-4110-C261-9A0B-806A71FE11CF}"/>
              </a:ext>
            </a:extLst>
          </p:cNvPr>
          <p:cNvSpPr/>
          <p:nvPr/>
        </p:nvSpPr>
        <p:spPr>
          <a:xfrm>
            <a:off x="6837426" y="225974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BM25 关键词检索</a:t>
            </a:r>
            <a:endParaRPr lang="en-US" sz="1400" dirty="0"/>
          </a:p>
        </p:txBody>
      </p:sp>
      <p:sp>
        <p:nvSpPr>
          <p:cNvPr id="62" name="Shape 18">
            <a:extLst>
              <a:ext uri="{FF2B5EF4-FFF2-40B4-BE49-F238E27FC236}">
                <a16:creationId xmlns:a16="http://schemas.microsoft.com/office/drawing/2014/main" id="{B71FD11E-0B36-ABA9-2271-649336F4499D}"/>
              </a:ext>
            </a:extLst>
          </p:cNvPr>
          <p:cNvSpPr/>
          <p:nvPr/>
        </p:nvSpPr>
        <p:spPr>
          <a:xfrm>
            <a:off x="10485882" y="229632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55431F"/>
          </a:solidFill>
          <a:ln/>
        </p:spPr>
      </p:sp>
      <p:sp>
        <p:nvSpPr>
          <p:cNvPr id="25600" name="Text 19">
            <a:extLst>
              <a:ext uri="{FF2B5EF4-FFF2-40B4-BE49-F238E27FC236}">
                <a16:creationId xmlns:a16="http://schemas.microsoft.com/office/drawing/2014/main" id="{201A0173-CC24-C1F5-8062-9C0D0810B3FF}"/>
              </a:ext>
            </a:extLst>
          </p:cNvPr>
          <p:cNvSpPr/>
          <p:nvPr/>
        </p:nvSpPr>
        <p:spPr>
          <a:xfrm>
            <a:off x="10485882" y="229632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字面匹配</a:t>
            </a:r>
            <a:endParaRPr lang="en-US" sz="850" dirty="0"/>
          </a:p>
        </p:txBody>
      </p:sp>
      <p:sp>
        <p:nvSpPr>
          <p:cNvPr id="25603" name="Text 20">
            <a:extLst>
              <a:ext uri="{FF2B5EF4-FFF2-40B4-BE49-F238E27FC236}">
                <a16:creationId xmlns:a16="http://schemas.microsoft.com/office/drawing/2014/main" id="{A3EC8BB5-DFCC-6102-D661-7D1A6F75DF8C}"/>
              </a:ext>
            </a:extLst>
          </p:cNvPr>
          <p:cNvSpPr/>
          <p:nvPr/>
        </p:nvSpPr>
        <p:spPr>
          <a:xfrm>
            <a:off x="6398514" y="279009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分词：中文二元组「小艺/艺慧/慧记」+ 英文数字整词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索引：倒排表 1.1 万词 · 参数 k1=1.5，b=0.75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强项：型号、专有名词精确命中，稀有词 IDF 加权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速度：只遍历含查询词的倒排链 ≈ 0.3 ms</a:t>
            </a:r>
            <a:endParaRPr lang="en-US" sz="1000" dirty="0"/>
          </a:p>
        </p:txBody>
      </p:sp>
      <p:sp>
        <p:nvSpPr>
          <p:cNvPr id="25605" name="Shape 21">
            <a:extLst>
              <a:ext uri="{FF2B5EF4-FFF2-40B4-BE49-F238E27FC236}">
                <a16:creationId xmlns:a16="http://schemas.microsoft.com/office/drawing/2014/main" id="{0B042B19-BE94-0ACE-F9B8-9D7D55EF4B66}"/>
              </a:ext>
            </a:extLst>
          </p:cNvPr>
          <p:cNvSpPr/>
          <p:nvPr/>
        </p:nvSpPr>
        <p:spPr>
          <a:xfrm>
            <a:off x="3216402" y="4527458"/>
            <a:ext cx="2395728" cy="530352"/>
          </a:xfrm>
          <a:prstGeom prst="line">
            <a:avLst/>
          </a:prstGeom>
          <a:noFill/>
          <a:ln w="22225">
            <a:solidFill>
              <a:srgbClr val="44607C"/>
            </a:solidFill>
            <a:prstDash val="solid"/>
            <a:tailEnd type="triangle"/>
          </a:ln>
        </p:spPr>
      </p:sp>
      <p:sp>
        <p:nvSpPr>
          <p:cNvPr id="25607" name="Shape 22">
            <a:extLst>
              <a:ext uri="{FF2B5EF4-FFF2-40B4-BE49-F238E27FC236}">
                <a16:creationId xmlns:a16="http://schemas.microsoft.com/office/drawing/2014/main" id="{8462D7D3-17CF-7C9E-F47A-D77486E9014E}"/>
              </a:ext>
            </a:extLst>
          </p:cNvPr>
          <p:cNvSpPr/>
          <p:nvPr/>
        </p:nvSpPr>
        <p:spPr>
          <a:xfrm flipH="1">
            <a:off x="6471666" y="4527458"/>
            <a:ext cx="2395728" cy="530352"/>
          </a:xfrm>
          <a:prstGeom prst="line">
            <a:avLst/>
          </a:prstGeom>
          <a:noFill/>
          <a:ln w="22225">
            <a:solidFill>
              <a:srgbClr val="44607C"/>
            </a:solidFill>
            <a:prstDash val="solid"/>
            <a:tailEnd type="triangle"/>
          </a:ln>
        </p:spPr>
      </p:sp>
      <p:sp>
        <p:nvSpPr>
          <p:cNvPr id="25609" name="Shape 23">
            <a:extLst>
              <a:ext uri="{FF2B5EF4-FFF2-40B4-BE49-F238E27FC236}">
                <a16:creationId xmlns:a16="http://schemas.microsoft.com/office/drawing/2014/main" id="{27DCECF6-DAFF-92F3-C73E-25A50D044B73}"/>
              </a:ext>
            </a:extLst>
          </p:cNvPr>
          <p:cNvSpPr/>
          <p:nvPr/>
        </p:nvSpPr>
        <p:spPr>
          <a:xfrm>
            <a:off x="2384298" y="5057810"/>
            <a:ext cx="7315200" cy="987552"/>
          </a:xfrm>
          <a:prstGeom prst="roundRect">
            <a:avLst>
              <a:gd name="adj" fmla="val 8333"/>
            </a:avLst>
          </a:prstGeom>
          <a:solidFill>
            <a:srgbClr val="1D3E58"/>
          </a:solidFill>
          <a:ln/>
        </p:spPr>
      </p:sp>
      <p:sp>
        <p:nvSpPr>
          <p:cNvPr id="25611" name="Shape 24">
            <a:extLst>
              <a:ext uri="{FF2B5EF4-FFF2-40B4-BE49-F238E27FC236}">
                <a16:creationId xmlns:a16="http://schemas.microsoft.com/office/drawing/2014/main" id="{BAA77911-19BE-D9EF-EB34-6F173A2D9308}"/>
              </a:ext>
            </a:extLst>
          </p:cNvPr>
          <p:cNvSpPr/>
          <p:nvPr/>
        </p:nvSpPr>
        <p:spPr>
          <a:xfrm>
            <a:off x="2585466" y="5258978"/>
            <a:ext cx="365760" cy="365760"/>
          </a:xfrm>
          <a:prstGeom prst="ellipse">
            <a:avLst/>
          </a:prstGeom>
          <a:solidFill>
            <a:srgbClr val="2A4A63"/>
          </a:solidFill>
          <a:ln/>
        </p:spPr>
      </p:sp>
      <p:pic>
        <p:nvPicPr>
          <p:cNvPr id="25613" name="Image 3" descr="D:\study\xiaoyi\ppt_build\icons\branch.png">
            <a:extLst>
              <a:ext uri="{FF2B5EF4-FFF2-40B4-BE49-F238E27FC236}">
                <a16:creationId xmlns:a16="http://schemas.microsoft.com/office/drawing/2014/main" id="{551E5457-A3E5-3364-091C-2339697D75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762" y="5341274"/>
            <a:ext cx="201168" cy="201168"/>
          </a:xfrm>
          <a:prstGeom prst="rect">
            <a:avLst/>
          </a:prstGeom>
        </p:spPr>
      </p:pic>
      <p:sp>
        <p:nvSpPr>
          <p:cNvPr id="25615" name="Text 25">
            <a:extLst>
              <a:ext uri="{FF2B5EF4-FFF2-40B4-BE49-F238E27FC236}">
                <a16:creationId xmlns:a16="http://schemas.microsoft.com/office/drawing/2014/main" id="{9539C954-98B8-E4F8-8ACB-03EA217E94A4}"/>
              </a:ext>
            </a:extLst>
          </p:cNvPr>
          <p:cNvSpPr/>
          <p:nvPr/>
        </p:nvSpPr>
        <p:spPr>
          <a:xfrm>
            <a:off x="3060954" y="514925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RRF 融合 · 只看排名，不比分数</a:t>
            </a:r>
            <a:endParaRPr lang="en-US" sz="1250" dirty="0"/>
          </a:p>
        </p:txBody>
      </p:sp>
      <p:sp>
        <p:nvSpPr>
          <p:cNvPr id="25617" name="Text 26">
            <a:extLst>
              <a:ext uri="{FF2B5EF4-FFF2-40B4-BE49-F238E27FC236}">
                <a16:creationId xmlns:a16="http://schemas.microsoft.com/office/drawing/2014/main" id="{5482C8F8-59BE-52D8-9ABA-8526E924E778}"/>
              </a:ext>
            </a:extLst>
          </p:cNvPr>
          <p:cNvSpPr/>
          <p:nvPr/>
        </p:nvSpPr>
        <p:spPr>
          <a:xfrm>
            <a:off x="3060954" y="549672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两路都靠前的块排到最前 · k = 60</a:t>
            </a:r>
            <a:endParaRPr lang="en-US" sz="900" dirty="0"/>
          </a:p>
        </p:txBody>
      </p:sp>
      <p:sp>
        <p:nvSpPr>
          <p:cNvPr id="25619" name="Text 27">
            <a:extLst>
              <a:ext uri="{FF2B5EF4-FFF2-40B4-BE49-F238E27FC236}">
                <a16:creationId xmlns:a16="http://schemas.microsoft.com/office/drawing/2014/main" id="{86736054-4B7A-348C-C4A4-9D2807B8347B}"/>
              </a:ext>
            </a:extLst>
          </p:cNvPr>
          <p:cNvSpPr/>
          <p:nvPr/>
        </p:nvSpPr>
        <p:spPr>
          <a:xfrm>
            <a:off x="7029450" y="514925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score(d) = Σ 1/(60 + rank)</a:t>
            </a:r>
            <a:endParaRPr lang="en-US" sz="1100" dirty="0"/>
          </a:p>
        </p:txBody>
      </p:sp>
      <p:sp>
        <p:nvSpPr>
          <p:cNvPr id="25621" name="Text 28">
            <a:extLst>
              <a:ext uri="{FF2B5EF4-FFF2-40B4-BE49-F238E27FC236}">
                <a16:creationId xmlns:a16="http://schemas.microsoft.com/office/drawing/2014/main" id="{CC26593E-3F98-877C-F567-8AF756CE0428}"/>
              </a:ext>
            </a:extLst>
          </p:cNvPr>
          <p:cNvSpPr/>
          <p:nvPr/>
        </p:nvSpPr>
        <p:spPr>
          <a:xfrm>
            <a:off x="7029450" y="549672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越小头部权重越大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523653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23D64-3A60-FF99-A50C-A2E1003D4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>
            <a:extLst>
              <a:ext uri="{FF2B5EF4-FFF2-40B4-BE49-F238E27FC236}">
                <a16:creationId xmlns:a16="http://schemas.microsoft.com/office/drawing/2014/main" id="{2BC0FE27-CB24-D50D-0628-2C1CC9411AB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65163" y="63230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r>
              <a:rPr lang="en-US" altLang="zh-CN">
                <a:solidFill>
                  <a:srgbClr val="0D0D0D"/>
                </a:solidFill>
                <a:latin typeface="Huawei Sans" panose="020C0503030203020204" pitchFamily="34" charset="0"/>
              </a:rPr>
              <a:t>-</a:t>
            </a:r>
            <a:fld id="{E644F1D8-075D-425C-B135-767E88DACD2B}" type="slidenum">
              <a:rPr lang="zh-CN" altLang="en-US">
                <a:solidFill>
                  <a:srgbClr val="0D0D0D"/>
                </a:solidFill>
                <a:latin typeface="Huawei Sans" panose="020C0503030203020204" pitchFamily="34" charset="0"/>
              </a:rPr>
              <a:t>2</a:t>
            </a:fld>
            <a:r>
              <a:rPr lang="en-US" altLang="zh-CN">
                <a:solidFill>
                  <a:srgbClr val="0D0D0D"/>
                </a:solidFill>
                <a:latin typeface="Huawei Sans" panose="020C0503030203020204" pitchFamily="34" charset="0"/>
              </a:rPr>
              <a:t>-</a:t>
            </a:r>
            <a:endParaRPr lang="zh-CN" altLang="en-US">
              <a:solidFill>
                <a:srgbClr val="0D0D0D"/>
              </a:solidFill>
              <a:latin typeface="Huawei Sans" panose="020C0503030203020204" pitchFamily="34" charset="0"/>
            </a:endParaRPr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271D3D90-3365-2AFA-3329-BE33C1F11775}"/>
              </a:ext>
            </a:extLst>
          </p:cNvPr>
          <p:cNvSpPr txBox="1"/>
          <p:nvPr/>
        </p:nvSpPr>
        <p:spPr>
          <a:xfrm>
            <a:off x="301625" y="197064"/>
            <a:ext cx="4224683" cy="41549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89090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48463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207835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67208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31292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35864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40436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45008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pPr algn="l" eaLnBrk="1" hangingPunct="1">
              <a:buFont typeface="Arial" panose="020B0604020202020204" pitchFamily="34" charset="0"/>
              <a:buNone/>
            </a:pPr>
            <a:r>
              <a:rPr lang="zh-CN" altLang="en-US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特色功能：小艺知</a:t>
            </a:r>
            <a:r>
              <a:rPr lang="zh-CN" altLang="en-US" sz="27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识库</a:t>
            </a:r>
            <a:r>
              <a:rPr lang="en-US" altLang="zh-CN" sz="27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RAG</a:t>
            </a:r>
            <a:endParaRPr lang="en-US" altLang="zh-CN" sz="27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FDB769-69AC-B317-07AC-4021F48DF859}"/>
              </a:ext>
            </a:extLst>
          </p:cNvPr>
          <p:cNvSpPr txBox="1"/>
          <p:nvPr/>
        </p:nvSpPr>
        <p:spPr>
          <a:xfrm>
            <a:off x="204788" y="705515"/>
            <a:ext cx="1115853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Rerank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精排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/>
              <a:t>双路并行召回已经把相关</a:t>
            </a:r>
            <a:r>
              <a:rPr lang="en-US" altLang="zh-CN"/>
              <a:t>chunk</a:t>
            </a:r>
            <a:r>
              <a:rPr lang="zh-CN" altLang="en-US"/>
              <a:t>都查到了</a:t>
            </a:r>
            <a:r>
              <a:rPr lang="zh-CN" altLang="zh-CN"/>
              <a:t>，</a:t>
            </a:r>
            <a:r>
              <a:rPr lang="zh-CN" altLang="en-US"/>
              <a:t>但</a:t>
            </a:r>
            <a:r>
              <a:rPr lang="zh-CN" altLang="zh-CN"/>
              <a:t>读不懂这两份文档之间谁才真正回答了</a:t>
            </a:r>
            <a:r>
              <a:rPr lang="zh-CN" altLang="en-US"/>
              <a:t>用户</a:t>
            </a:r>
            <a:r>
              <a:rPr lang="en-US" altLang="zh-CN"/>
              <a:t>Query</a:t>
            </a:r>
            <a:r>
              <a:rPr lang="zh-CN" altLang="zh-CN"/>
              <a:t>，这就是粗排的</a:t>
            </a:r>
            <a:r>
              <a:rPr lang="zh-CN" altLang="en-US"/>
              <a:t>上限</a:t>
            </a:r>
            <a:r>
              <a:rPr lang="zh-CN" altLang="zh-CN"/>
              <a:t>。</a:t>
            </a:r>
          </a:p>
          <a:p>
            <a:r>
              <a:rPr lang="zh-CN" altLang="zh-CN"/>
              <a:t>精排要解决的正是</a:t>
            </a:r>
            <a:r>
              <a:rPr lang="zh-CN" altLang="en-US"/>
              <a:t>这个局限</a:t>
            </a:r>
            <a:r>
              <a:rPr lang="zh-CN" altLang="zh-CN"/>
              <a:t>。干精排这件事的模型reranke</a:t>
            </a:r>
            <a:r>
              <a:rPr lang="en-US" altLang="zh-CN"/>
              <a:t>r</a:t>
            </a:r>
            <a:r>
              <a:rPr lang="zh-CN" altLang="zh-CN"/>
              <a:t>重排器；是把 </a:t>
            </a:r>
            <a:r>
              <a:rPr lang="en-US" altLang="zh-CN"/>
              <a:t>Query</a:t>
            </a:r>
            <a:r>
              <a:rPr lang="zh-CN" altLang="zh-CN"/>
              <a:t>和文档</a:t>
            </a:r>
            <a:r>
              <a:rPr lang="en-US" altLang="zh-CN"/>
              <a:t>Trunk</a:t>
            </a:r>
            <a:r>
              <a:rPr lang="zh-CN" altLang="zh-CN"/>
              <a:t>拼成一条输入送进模型，让两边的每个词充分交互，</a:t>
            </a:r>
            <a:r>
              <a:rPr lang="zh-CN" altLang="en-US"/>
              <a:t>判断</a:t>
            </a:r>
            <a:r>
              <a:rPr lang="zh-CN" altLang="zh-CN"/>
              <a:t>更深的语义关联，而不是各查各的自说自话。</a:t>
            </a:r>
          </a:p>
          <a:p>
            <a:pPr marL="0" indent="0">
              <a:buNone/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1313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方正兰亭黑简体"/>
        <a:ea typeface=""/>
        <a:cs typeface=""/>
        <a:font script="Jpan" typeface="ＭＳ Ｐゴシック"/>
        <a:font script="Hang" typeface="맑은 고딕"/>
        <a:font script="Hans" typeface="方正兰亭黑简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方正兰亭黑简体"/>
        <a:ea typeface=""/>
        <a:cs typeface=""/>
        <a:font script="Jpan" typeface="ＭＳ Ｐゴシック"/>
        <a:font script="Hang" typeface="맑은 고딕"/>
        <a:font script="Hans" typeface="方正兰亭黑简体"/>
        <a:font script="Hant" typeface="新細明體"/>
        <a:font script="Arab" typeface="方正兰亭黑简体"/>
        <a:font script="Hebr" typeface="方正兰亭黑简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方正兰亭黑简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9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方正兰亭黑简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方正兰亭黑简体"/>
        <a:ea typeface=""/>
        <a:cs typeface=""/>
        <a:font script="Jpan" typeface="ＭＳ Ｐゴシック"/>
        <a:font script="Hang" typeface="맑은 고딕"/>
        <a:font script="Hans" typeface="方正兰亭黑简体"/>
        <a:font script="Hant" typeface="新細明體"/>
        <a:font script="Arab" typeface="方正兰亭黑简体"/>
        <a:font script="Hebr" typeface="方正兰亭黑简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方正兰亭黑简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方正兰亭黑简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方正兰亭黑简体"/>
        <a:ea typeface=""/>
        <a:cs typeface=""/>
        <a:font script="Jpan" typeface="ＭＳ Ｐゴシック"/>
        <a:font script="Hang" typeface="맑은 고딕"/>
        <a:font script="Hans" typeface="方正兰亭黑简体"/>
        <a:font script="Hant" typeface="新細明體"/>
        <a:font script="Arab" typeface="方正兰亭黑简体"/>
        <a:font script="Hebr" typeface="方正兰亭黑简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方正兰亭黑简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652</Words>
  <Application>Microsoft Office PowerPoint</Application>
  <PresentationFormat>宽屏</PresentationFormat>
  <Paragraphs>55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Huawei Sans</vt:lpstr>
      <vt:lpstr>微軟正黑體</vt:lpstr>
      <vt:lpstr>方正兰亭黑简体</vt:lpstr>
      <vt:lpstr>微软雅黑</vt:lpstr>
      <vt:lpstr>微软雅黑</vt:lpstr>
      <vt:lpstr>Arial</vt:lpstr>
      <vt:lpstr>Consolas</vt:lpstr>
      <vt:lpstr>Times New Roman</vt:lpstr>
      <vt:lpstr>Office 主题</vt:lpstr>
      <vt:lpstr>39_章节页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Wangjie (Aitor)</dc:creator>
  <cp:lastModifiedBy>业飞 侯</cp:lastModifiedBy>
  <cp:revision>21</cp:revision>
  <dcterms:created xsi:type="dcterms:W3CDTF">2026-08-02T16:21:05Z</dcterms:created>
  <dcterms:modified xsi:type="dcterms:W3CDTF">2026-09-13T07:44:01Z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(3)sKXLn1qDaC//ygesWrSJfC96BIpJkdy0h0Skvd77oBUG2U0kdzdhrrY/1k3yMO7OmV6alJgT
lZGT6DTSNS32xHaXCt2AWlUsUzHXdeAfINxlYD7lEg+4VwpnZEjQsh6B4/4QYP2/YmlyXDCW
Es6F4X4cnnq92m/qznGqtNEHOO8tSB8rL86/M2BF9mYVoAqnpeqIX+jkAkOukQI8EKykzmFR
su+Shu+e6whVZASDu1</vt:lpwstr>
  </property>
  <property fmtid="{D5CDD505-2E9C-101B-9397-08002B2CF9AE}" pid="3" name="_2015_ms_pID_7253431">
    <vt:lpwstr>wvAVMWDcRXmJRbtRPEVaEipQAPZxGP1lrMPMXA4Yg3AyNf1QO7ZSV6
e7WHr939+NV1oWeuFGjgSFvKN2dQYVplvUOh9ZA0XYRzCI/Dwph77teoO48RuNXaYCmsmxA1
M/XpLIq7yCMm4Y5vekjwE/0qdIre/TC+L89XvI1j5U3ScQzlW/2Dfq9IQxKY8Vck4T/JDUC7
r6USrdHXSWhRXpUVLQHmz3o3kBqV6xIbsS5K</vt:lpwstr>
  </property>
  <property fmtid="{D5CDD505-2E9C-101B-9397-08002B2CF9AE}" pid="4" name="KSOProductBuildVer">
    <vt:lpwstr>2052-0.0.0.0</vt:lpwstr>
  </property>
  <property fmtid="{D5CDD505-2E9C-101B-9397-08002B2CF9AE}" pid="5" name="_2015_ms_pID_7253432">
    <vt:lpwstr>nQ==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1761113192</vt:lpwstr>
  </property>
  <property fmtid="{D5CDD505-2E9C-101B-9397-08002B2CF9AE}" pid="10" name="ICV">
    <vt:lpwstr/>
  </property>
</Properties>
</file>
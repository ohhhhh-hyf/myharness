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147483573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8CD4"/>
    <a:srgbClr val="8A4AC8"/>
    <a:srgbClr val="6B63D9"/>
    <a:srgbClr val="00A9D6"/>
    <a:srgbClr val="6E45B8"/>
    <a:srgbClr val="198CB1"/>
    <a:srgbClr val="8A49C7"/>
    <a:srgbClr val="02A9D6"/>
    <a:srgbClr val="D8EBFE"/>
    <a:srgbClr val="947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95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510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74AE78-D77F-48AF-A38C-22273CB41F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2D1B751-422C-41E9-9047-89DC823835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F73A59-1A86-4C2E-B970-409932EFB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A8790-BB5A-42F0-A482-62FD277499F2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7C592F-EF3B-4038-A388-51689EE2E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80EC43-3FDB-49A7-A320-58D91C05E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7AFE-3007-4E07-A976-E9E829D171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5436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1C45C3-A031-42A3-8972-53D29F7FB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76831B-D08E-4F8E-A58D-F8BC33149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0BBEF3-93C5-4B6B-B43F-3FDB08122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A8790-BB5A-42F0-A482-62FD277499F2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2441C1-EBBA-4D23-BC36-AE55B876B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DDDE2C-1145-4096-BC2E-57B66FE5A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7AFE-3007-4E07-A976-E9E829D171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9030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6EEDE7-B55C-418C-9CB8-C180AEF42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00E5BA6-6114-45CA-9181-85116AF646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BD4C0B-7AD9-4242-B4B3-32BE0C237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A8790-BB5A-42F0-A482-62FD277499F2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60B0C9-3823-457E-AA8A-9404EE89A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109024-E8CF-4FBB-8659-AC5C6EFE3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7AFE-3007-4E07-A976-E9E829D171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985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5874A3-B399-40CE-8772-B22585C98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DA252D-C131-4670-BA97-27FAD6B4E4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FE0A15B-8ED1-406D-983D-C535D78F00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5AC00AB-B79F-4BE5-BEDA-781EA69D3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A8790-BB5A-42F0-A482-62FD277499F2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A328B77-076F-4D3A-AF23-0467093B0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91BB3B6-4BBF-4845-B6F4-BCD578D97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7AFE-3007-4E07-A976-E9E829D171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946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C08B39-9089-4FCE-90EF-1603897D4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592362-9CC8-44F7-B723-0F12036624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ECF5A4B-16F4-4F20-996F-6625BAFBDA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BDF7382-F35F-4859-9079-C6D9A0812D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A3039EC-37FC-451E-91A7-F73660AA38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62FB837-4714-4965-90C2-5213A92BB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A8790-BB5A-42F0-A482-62FD277499F2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2579C2F-64A7-4C14-BA07-813BD4B93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9E9B88D-B560-48B1-B556-420218361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7AFE-3007-4E07-A976-E9E829D171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0070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39C0CF-4B08-43CA-BD05-61B3CCCAA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3D4348D-026A-4D76-A1D5-D24A95F16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A8790-BB5A-42F0-A482-62FD277499F2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C0B473A-8CDB-4C28-A409-DBFAB7EC8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BCEED1C-C982-4A77-BEDD-CFD037BE0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7AFE-3007-4E07-A976-E9E829D171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1464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3557C9E-0F3A-4FB8-BFBD-E9E5209B4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A8790-BB5A-42F0-A482-62FD277499F2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47C0C31-6A70-439F-A329-761BFA190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3C61B1-2F84-4D6E-B0C0-58565A8DB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7AFE-3007-4E07-A976-E9E829D171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3511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3058B9-6F40-41EC-9476-2B8EE3663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6928AD-A8E3-436B-A1F7-E4C3F2820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2B605C3-F385-4AC8-A5A1-357F22A22B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533E4E1-C8E2-43AD-BE2F-1951E7ACF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A8790-BB5A-42F0-A482-62FD277499F2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83F7920-1131-4AF8-BFD8-4B6954ACC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7749949-1002-422F-8006-0B20840FF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7AFE-3007-4E07-A976-E9E829D171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647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609459-1F49-4815-8126-927EA4187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1BD115E-E8B9-43E1-BC8D-C9F3CBE16E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B75FE9A-5412-4B72-8124-008E0E9F71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E18949B-DFBB-498A-B7C1-41666AB69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A8790-BB5A-42F0-A482-62FD277499F2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554B73-00A6-4E36-A3C7-0E5B0FB8D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7638F16-5731-4263-A709-8757C5B1F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7AFE-3007-4E07-A976-E9E829D171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8762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D0F496-0C2D-4B91-B22C-5A342D296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079C7CF-E783-41EE-9BC4-51A2BE8CB2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160A2F-C612-4B57-AC83-DF9E1C54D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A8790-BB5A-42F0-A482-62FD277499F2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923F05-86F8-4656-AE0C-9854D9C9A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DA9D6E-F001-4BF3-B43E-AAD5E7277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7AFE-3007-4E07-A976-E9E829D171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879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C6D27EE-BD13-4F11-AC41-FFA8F1DAC0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F70DC76-F1B3-4B69-A896-56F09B12B2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5EAB63-273E-42FE-B0C7-A189B6783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A8790-BB5A-42F0-A482-62FD277499F2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3BAFAD-8C21-4035-B045-E59A5CDA0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1E978B-3983-4F83-97A1-0342C8D25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7AFE-3007-4E07-A976-E9E829D171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75796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44017AE-4501-409A-821B-F0C6D4818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33D980-11F4-4F24-9735-EAA475D6BA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792BF2-FE35-4D99-B21C-D881E8270D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A8790-BB5A-42F0-A482-62FD277499F2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6B0B7A-AD48-4005-B612-1AFB10A264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7CD1DE-AED8-4673-90BE-8CAA28B76C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AF7AFE-3007-4E07-A976-E9E829D171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2023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DD9A487E-720A-8103-71D7-81A1ADDE2BD0}"/>
              </a:ext>
            </a:extLst>
          </p:cNvPr>
          <p:cNvSpPr/>
          <p:nvPr/>
        </p:nvSpPr>
        <p:spPr>
          <a:xfrm>
            <a:off x="1759432" y="2347033"/>
            <a:ext cx="7272242" cy="1581028"/>
          </a:xfrm>
          <a:prstGeom prst="roundRect">
            <a:avLst>
              <a:gd name="adj" fmla="val 6171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9090CBD0-C247-E6F4-6873-A06D7F6CC511}"/>
              </a:ext>
            </a:extLst>
          </p:cNvPr>
          <p:cNvSpPr/>
          <p:nvPr/>
        </p:nvSpPr>
        <p:spPr>
          <a:xfrm>
            <a:off x="1927442" y="1414490"/>
            <a:ext cx="6971533" cy="621987"/>
          </a:xfrm>
          <a:prstGeom prst="roundRect">
            <a:avLst>
              <a:gd name="adj" fmla="val 10441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DCE3178D-7D40-F5D1-688D-F9C0E134C611}"/>
              </a:ext>
            </a:extLst>
          </p:cNvPr>
          <p:cNvSpPr/>
          <p:nvPr/>
        </p:nvSpPr>
        <p:spPr>
          <a:xfrm>
            <a:off x="1927442" y="2486854"/>
            <a:ext cx="3523855" cy="1380016"/>
          </a:xfrm>
          <a:prstGeom prst="roundRect">
            <a:avLst>
              <a:gd name="adj" fmla="val 3771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2BDE2E4-A81C-44C9-BDE6-6F4B9C0A211A}"/>
              </a:ext>
            </a:extLst>
          </p:cNvPr>
          <p:cNvSpPr>
            <a:spLocks noGrp="1"/>
          </p:cNvSpPr>
          <p:nvPr/>
        </p:nvSpPr>
        <p:spPr>
          <a:xfrm>
            <a:off x="495300" y="212725"/>
            <a:ext cx="57150" cy="628650"/>
          </a:xfrm>
          <a:prstGeom prst="rect">
            <a:avLst/>
          </a:prstGeom>
          <a:solidFill>
            <a:srgbClr val="36D7FF"/>
          </a:solidFill>
          <a:ln w="0"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BF12C81-EFD1-4E4B-A8DB-7B682B7BF73A}"/>
              </a:ext>
            </a:extLst>
          </p:cNvPr>
          <p:cNvSpPr>
            <a:spLocks noGrp="1"/>
          </p:cNvSpPr>
          <p:nvPr/>
        </p:nvSpPr>
        <p:spPr>
          <a:xfrm>
            <a:off x="666750" y="242570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325" b="1" dirty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多</a:t>
            </a:r>
            <a:r>
              <a:rPr lang="en-US" altLang="zh-CN" sz="2325" b="1" dirty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Agent</a:t>
            </a:r>
            <a:r>
              <a:rPr lang="zh-CN" altLang="en-US" sz="2325" b="1" dirty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协作架构</a:t>
            </a:r>
            <a:endParaRPr sz="2325" b="1" dirty="0">
              <a:solidFill>
                <a:srgbClr val="102A4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1F0CD56-8316-B127-FCB8-CCE6FCE03B3B}"/>
              </a:ext>
            </a:extLst>
          </p:cNvPr>
          <p:cNvSpPr/>
          <p:nvPr/>
        </p:nvSpPr>
        <p:spPr>
          <a:xfrm>
            <a:off x="2044043" y="1532524"/>
            <a:ext cx="2910229" cy="4105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会议理解</a:t>
            </a:r>
            <a:r>
              <a:rPr lang="en-US" altLang="zh-CN" sz="1400" dirty="0"/>
              <a:t>Agent(</a:t>
            </a:r>
            <a:r>
              <a:rPr lang="zh-CN" altLang="en-US" sz="1400" dirty="0"/>
              <a:t>抽取会议信息底座</a:t>
            </a:r>
            <a:r>
              <a:rPr lang="en-US" altLang="zh-CN" sz="1400" dirty="0"/>
              <a:t>)</a:t>
            </a:r>
            <a:endParaRPr lang="zh-CN" altLang="en-US" sz="14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0D9B3C4-1706-56F9-6E1D-56C87A792251}"/>
              </a:ext>
            </a:extLst>
          </p:cNvPr>
          <p:cNvSpPr/>
          <p:nvPr/>
        </p:nvSpPr>
        <p:spPr>
          <a:xfrm>
            <a:off x="5850976" y="1532523"/>
            <a:ext cx="2910229" cy="410555"/>
          </a:xfrm>
          <a:prstGeom prst="rect">
            <a:avLst/>
          </a:prstGeom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视角建模</a:t>
            </a:r>
            <a:r>
              <a:rPr lang="en-US" altLang="zh-CN" sz="1400" dirty="0"/>
              <a:t>Agent(</a:t>
            </a:r>
            <a:r>
              <a:rPr lang="zh-CN" altLang="en-US" sz="1400" dirty="0"/>
              <a:t>构建个性化视角</a:t>
            </a:r>
            <a:r>
              <a:rPr lang="en-US" altLang="zh-CN" sz="1400" dirty="0"/>
              <a:t>)</a:t>
            </a:r>
            <a:endParaRPr lang="zh-CN" altLang="en-US" sz="14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292A9D5-9E85-0B82-9AA9-0143245B74C4}"/>
              </a:ext>
            </a:extLst>
          </p:cNvPr>
          <p:cNvSpPr/>
          <p:nvPr/>
        </p:nvSpPr>
        <p:spPr>
          <a:xfrm>
            <a:off x="3735251" y="533333"/>
            <a:ext cx="3320604" cy="4105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会议领域任务</a:t>
            </a:r>
            <a:r>
              <a:rPr lang="en-US" altLang="zh-CN" sz="1400" dirty="0"/>
              <a:t>Start</a:t>
            </a:r>
            <a:endParaRPr lang="zh-CN" altLang="en-US" sz="14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238000E-4D3C-C7C0-B305-3E991FBC46C5}"/>
              </a:ext>
            </a:extLst>
          </p:cNvPr>
          <p:cNvSpPr txBox="1"/>
          <p:nvPr/>
        </p:nvSpPr>
        <p:spPr>
          <a:xfrm>
            <a:off x="556117" y="1532523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感知理解层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F93DC19-5F77-7E48-CC09-84F74851E26F}"/>
              </a:ext>
            </a:extLst>
          </p:cNvPr>
          <p:cNvSpPr txBox="1"/>
          <p:nvPr/>
        </p:nvSpPr>
        <p:spPr>
          <a:xfrm>
            <a:off x="552450" y="2995951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任务分发层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9D6F7D9-B984-BFC5-2024-E88CC42C530C}"/>
              </a:ext>
            </a:extLst>
          </p:cNvPr>
          <p:cNvSpPr txBox="1"/>
          <p:nvPr/>
        </p:nvSpPr>
        <p:spPr>
          <a:xfrm>
            <a:off x="552450" y="4305490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质检审核层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EC1511E-2299-11EA-31BC-EC27E4B522DB}"/>
              </a:ext>
            </a:extLst>
          </p:cNvPr>
          <p:cNvSpPr txBox="1"/>
          <p:nvPr/>
        </p:nvSpPr>
        <p:spPr>
          <a:xfrm>
            <a:off x="552450" y="5065826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渲染交互层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E0FEB5A-5E20-A415-8B38-4B215967B7BA}"/>
              </a:ext>
            </a:extLst>
          </p:cNvPr>
          <p:cNvSpPr/>
          <p:nvPr/>
        </p:nvSpPr>
        <p:spPr>
          <a:xfrm>
            <a:off x="2053070" y="2770110"/>
            <a:ext cx="1475571" cy="4593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FF0000"/>
                </a:solidFill>
              </a:rPr>
              <a:t>模板纪要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8A391C8-5F8B-76D8-74DC-61B07E6F57FE}"/>
              </a:ext>
            </a:extLst>
          </p:cNvPr>
          <p:cNvSpPr/>
          <p:nvPr/>
        </p:nvSpPr>
        <p:spPr>
          <a:xfrm>
            <a:off x="3779231" y="2766276"/>
            <a:ext cx="1522978" cy="4593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溯源纪要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3B10BCF-18A3-3C1F-2112-4D6AD63176FC}"/>
              </a:ext>
            </a:extLst>
          </p:cNvPr>
          <p:cNvSpPr/>
          <p:nvPr/>
        </p:nvSpPr>
        <p:spPr>
          <a:xfrm>
            <a:off x="5577103" y="2766275"/>
            <a:ext cx="1522979" cy="4593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风险提取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7E93239-BB6A-C7D0-9F63-0625D333F3BB}"/>
              </a:ext>
            </a:extLst>
          </p:cNvPr>
          <p:cNvSpPr/>
          <p:nvPr/>
        </p:nvSpPr>
        <p:spPr>
          <a:xfrm>
            <a:off x="7367215" y="2766274"/>
            <a:ext cx="1522979" cy="4593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待办提取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B63F7B5-06F7-656F-7D74-12C80DEA4CAA}"/>
              </a:ext>
            </a:extLst>
          </p:cNvPr>
          <p:cNvSpPr/>
          <p:nvPr/>
        </p:nvSpPr>
        <p:spPr>
          <a:xfrm>
            <a:off x="2053070" y="3329300"/>
            <a:ext cx="1475571" cy="4593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FF0000"/>
                </a:solidFill>
              </a:rPr>
              <a:t>议程纪要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7D17B52-7EC3-66D3-E9BB-2AD0D3124B24}"/>
              </a:ext>
            </a:extLst>
          </p:cNvPr>
          <p:cNvSpPr/>
          <p:nvPr/>
        </p:nvSpPr>
        <p:spPr>
          <a:xfrm>
            <a:off x="3735252" y="4259377"/>
            <a:ext cx="3320604" cy="4105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审核</a:t>
            </a:r>
            <a:r>
              <a:rPr lang="en-US" altLang="zh-CN" sz="1400" dirty="0"/>
              <a:t>Agent(</a:t>
            </a:r>
            <a:r>
              <a:rPr lang="zh-CN" altLang="en-US" sz="1400" dirty="0"/>
              <a:t>幻觉消除</a:t>
            </a:r>
            <a:r>
              <a:rPr lang="en-US" altLang="zh-CN" sz="1400" dirty="0"/>
              <a:t>/</a:t>
            </a:r>
            <a:r>
              <a:rPr lang="zh-CN" altLang="en-US" sz="1400" dirty="0"/>
              <a:t>一致性检验</a:t>
            </a:r>
            <a:r>
              <a:rPr lang="en-US" altLang="zh-CN" sz="1400" dirty="0"/>
              <a:t>)</a:t>
            </a:r>
            <a:endParaRPr lang="zh-CN" altLang="en-US" sz="1400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F12B4CF-3E28-27C4-9594-858C58919173}"/>
              </a:ext>
            </a:extLst>
          </p:cNvPr>
          <p:cNvSpPr/>
          <p:nvPr/>
        </p:nvSpPr>
        <p:spPr>
          <a:xfrm>
            <a:off x="3735251" y="4987536"/>
            <a:ext cx="3320605" cy="6077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渲染</a:t>
            </a:r>
            <a:r>
              <a:rPr lang="en-US" altLang="zh-CN" sz="1400" dirty="0"/>
              <a:t>Agent(Markdown/HTML/PNG)</a:t>
            </a:r>
            <a:endParaRPr lang="zh-CN" altLang="en-US" sz="1400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A7E64E8-48A8-C987-1E61-E4FFF7A4278E}"/>
              </a:ext>
            </a:extLst>
          </p:cNvPr>
          <p:cNvSpPr/>
          <p:nvPr/>
        </p:nvSpPr>
        <p:spPr>
          <a:xfrm>
            <a:off x="5576925" y="3347168"/>
            <a:ext cx="1522978" cy="4593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逻辑纪要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C1FEC96-191F-DCFA-2799-1D31BCA2DD21}"/>
              </a:ext>
            </a:extLst>
          </p:cNvPr>
          <p:cNvSpPr/>
          <p:nvPr/>
        </p:nvSpPr>
        <p:spPr>
          <a:xfrm>
            <a:off x="3769070" y="3336893"/>
            <a:ext cx="1531761" cy="4593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思维导图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6638183-D48A-EE9A-16B5-3C19B78BB3F5}"/>
              </a:ext>
            </a:extLst>
          </p:cNvPr>
          <p:cNvSpPr/>
          <p:nvPr/>
        </p:nvSpPr>
        <p:spPr>
          <a:xfrm>
            <a:off x="7375997" y="3337214"/>
            <a:ext cx="1522978" cy="4593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决策演变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F6CC0B9-0730-39CC-4C7A-84E6F3AC608A}"/>
              </a:ext>
            </a:extLst>
          </p:cNvPr>
          <p:cNvSpPr/>
          <p:nvPr/>
        </p:nvSpPr>
        <p:spPr>
          <a:xfrm>
            <a:off x="3735251" y="5949532"/>
            <a:ext cx="3320604" cy="4105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会议领域任务</a:t>
            </a:r>
            <a:r>
              <a:rPr lang="en-US" altLang="zh-CN" sz="1400" dirty="0"/>
              <a:t>End</a:t>
            </a:r>
            <a:endParaRPr lang="zh-CN" altLang="en-US" sz="1400" dirty="0"/>
          </a:p>
        </p:txBody>
      </p:sp>
      <p:cxnSp>
        <p:nvCxnSpPr>
          <p:cNvPr id="32" name="连接符: 肘形 31">
            <a:extLst>
              <a:ext uri="{FF2B5EF4-FFF2-40B4-BE49-F238E27FC236}">
                <a16:creationId xmlns:a16="http://schemas.microsoft.com/office/drawing/2014/main" id="{3FAD0515-C50A-DED2-73E3-B66D3EEB8942}"/>
              </a:ext>
            </a:extLst>
          </p:cNvPr>
          <p:cNvCxnSpPr>
            <a:stCxn id="11" idx="2"/>
            <a:endCxn id="8" idx="0"/>
          </p:cNvCxnSpPr>
          <p:nvPr/>
        </p:nvCxnSpPr>
        <p:spPr>
          <a:xfrm rot="5400000">
            <a:off x="4153038" y="290009"/>
            <a:ext cx="588636" cy="1896395"/>
          </a:xfrm>
          <a:prstGeom prst="bentConnector3">
            <a:avLst>
              <a:gd name="adj1" fmla="val 42702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连接符: 肘形 32">
            <a:extLst>
              <a:ext uri="{FF2B5EF4-FFF2-40B4-BE49-F238E27FC236}">
                <a16:creationId xmlns:a16="http://schemas.microsoft.com/office/drawing/2014/main" id="{DAE277CF-8ECB-B061-04A7-A3DD6B213915}"/>
              </a:ext>
            </a:extLst>
          </p:cNvPr>
          <p:cNvCxnSpPr>
            <a:cxnSpLocks/>
            <a:stCxn id="11" idx="2"/>
            <a:endCxn id="9" idx="0"/>
          </p:cNvCxnSpPr>
          <p:nvPr/>
        </p:nvCxnSpPr>
        <p:spPr>
          <a:xfrm rot="16200000" flipH="1">
            <a:off x="6056505" y="282936"/>
            <a:ext cx="588635" cy="1910538"/>
          </a:xfrm>
          <a:prstGeom prst="bentConnector3">
            <a:avLst>
              <a:gd name="adj1" fmla="val 41658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1820D710-E3C8-FECD-2BAD-695F49BA0F58}"/>
              </a:ext>
            </a:extLst>
          </p:cNvPr>
          <p:cNvSpPr txBox="1"/>
          <p:nvPr/>
        </p:nvSpPr>
        <p:spPr>
          <a:xfrm>
            <a:off x="3228864" y="2486854"/>
            <a:ext cx="1223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核心任务</a:t>
            </a:r>
            <a:r>
              <a:rPr lang="en-US" altLang="zh-CN" sz="1200" b="1" dirty="0"/>
              <a:t>Agent</a:t>
            </a:r>
            <a:endParaRPr lang="zh-CN" altLang="en-US" sz="1200" b="1" dirty="0"/>
          </a:p>
        </p:txBody>
      </p: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1AC06432-8E53-5D87-84C1-F67B042997A8}"/>
              </a:ext>
            </a:extLst>
          </p:cNvPr>
          <p:cNvCxnSpPr>
            <a:cxnSpLocks/>
            <a:endCxn id="51" idx="0"/>
          </p:cNvCxnSpPr>
          <p:nvPr/>
        </p:nvCxnSpPr>
        <p:spPr>
          <a:xfrm>
            <a:off x="5395553" y="2013040"/>
            <a:ext cx="0" cy="333993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958A20D7-FE9F-D3A4-B444-FC4E0A5AAE53}"/>
              </a:ext>
            </a:extLst>
          </p:cNvPr>
          <p:cNvSpPr txBox="1"/>
          <p:nvPr/>
        </p:nvSpPr>
        <p:spPr>
          <a:xfrm>
            <a:off x="6849555" y="2457019"/>
            <a:ext cx="1223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派生任务</a:t>
            </a:r>
            <a:r>
              <a:rPr lang="en-US" altLang="zh-CN" sz="1200" b="1" dirty="0"/>
              <a:t>Agent</a:t>
            </a:r>
            <a:endParaRPr lang="zh-CN" altLang="en-US" sz="1200" b="1" dirty="0"/>
          </a:p>
        </p:txBody>
      </p: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A6CCAED6-66F4-4DCD-7229-09668121929F}"/>
              </a:ext>
            </a:extLst>
          </p:cNvPr>
          <p:cNvCxnSpPr>
            <a:cxnSpLocks/>
          </p:cNvCxnSpPr>
          <p:nvPr/>
        </p:nvCxnSpPr>
        <p:spPr>
          <a:xfrm>
            <a:off x="5451297" y="3928061"/>
            <a:ext cx="0" cy="333993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814BC294-BDD8-BA0F-0295-F7603361D312}"/>
              </a:ext>
            </a:extLst>
          </p:cNvPr>
          <p:cNvCxnSpPr>
            <a:cxnSpLocks/>
          </p:cNvCxnSpPr>
          <p:nvPr/>
        </p:nvCxnSpPr>
        <p:spPr>
          <a:xfrm>
            <a:off x="5436319" y="4669932"/>
            <a:ext cx="0" cy="333993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A3F77227-D2B6-BC08-ABAC-6EF856CC0CDF}"/>
              </a:ext>
            </a:extLst>
          </p:cNvPr>
          <p:cNvCxnSpPr>
            <a:cxnSpLocks/>
          </p:cNvCxnSpPr>
          <p:nvPr/>
        </p:nvCxnSpPr>
        <p:spPr>
          <a:xfrm>
            <a:off x="5413208" y="5595248"/>
            <a:ext cx="0" cy="333993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0" name="文本框 89">
            <a:extLst>
              <a:ext uri="{FF2B5EF4-FFF2-40B4-BE49-F238E27FC236}">
                <a16:creationId xmlns:a16="http://schemas.microsoft.com/office/drawing/2014/main" id="{B27C734B-7AA1-4103-FD4C-399A53B964C6}"/>
              </a:ext>
            </a:extLst>
          </p:cNvPr>
          <p:cNvSpPr txBox="1"/>
          <p:nvPr/>
        </p:nvSpPr>
        <p:spPr>
          <a:xfrm>
            <a:off x="9069359" y="1402317"/>
            <a:ext cx="2390398" cy="646331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多模态感知输入</a:t>
            </a:r>
            <a:r>
              <a:rPr lang="en-US" altLang="zh-CN" sz="1200" dirty="0"/>
              <a:t>(</a:t>
            </a:r>
            <a:r>
              <a:rPr lang="zh-CN" altLang="en-US" sz="1200" dirty="0"/>
              <a:t>文本</a:t>
            </a:r>
            <a:r>
              <a:rPr lang="en-US" altLang="zh-CN" sz="1200" dirty="0"/>
              <a:t>/</a:t>
            </a:r>
            <a:r>
              <a:rPr lang="zh-CN" altLang="en-US" sz="1200" dirty="0"/>
              <a:t>图片</a:t>
            </a:r>
            <a:r>
              <a:rPr lang="en-US" altLang="zh-CN" sz="1200" dirty="0"/>
              <a:t>/</a:t>
            </a:r>
            <a:r>
              <a:rPr lang="zh-CN" altLang="en-US" sz="1200" dirty="0"/>
              <a:t>文档</a:t>
            </a:r>
            <a:r>
              <a:rPr lang="en-US" altLang="zh-CN" sz="1200" dirty="0"/>
              <a:t>)</a:t>
            </a:r>
          </a:p>
          <a:p>
            <a:r>
              <a:rPr lang="zh-CN" altLang="en-US" sz="1200" dirty="0"/>
              <a:t>建模个人</a:t>
            </a:r>
            <a:r>
              <a:rPr lang="en-US" altLang="zh-CN" sz="1200" dirty="0"/>
              <a:t>/</a:t>
            </a:r>
            <a:r>
              <a:rPr lang="zh-CN" altLang="en-US" sz="1200" dirty="0"/>
              <a:t>职业视角</a:t>
            </a:r>
            <a:endParaRPr lang="en-US" altLang="zh-CN" sz="1200" dirty="0"/>
          </a:p>
          <a:p>
            <a:r>
              <a:rPr lang="zh-CN" altLang="en-US" sz="1200" dirty="0"/>
              <a:t>会议信息层级解析</a:t>
            </a: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F614A2C4-5292-86CE-A48F-C9223EC34075}"/>
              </a:ext>
            </a:extLst>
          </p:cNvPr>
          <p:cNvSpPr txBox="1"/>
          <p:nvPr/>
        </p:nvSpPr>
        <p:spPr>
          <a:xfrm>
            <a:off x="9175069" y="2902463"/>
            <a:ext cx="2284688" cy="646331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基于感知理解层的事实底座</a:t>
            </a:r>
            <a:endParaRPr lang="en-US" altLang="zh-CN" sz="1200" dirty="0"/>
          </a:p>
          <a:p>
            <a:r>
              <a:rPr lang="zh-CN" altLang="en-US" sz="1200" dirty="0"/>
              <a:t>任务</a:t>
            </a:r>
            <a:r>
              <a:rPr lang="en-US" altLang="zh-CN" sz="1200" dirty="0"/>
              <a:t>Agent</a:t>
            </a:r>
            <a:r>
              <a:rPr lang="zh-CN" altLang="en-US" sz="1200" dirty="0"/>
              <a:t>结合任务需求执行</a:t>
            </a:r>
            <a:endParaRPr lang="en-US" altLang="zh-CN" sz="1200" dirty="0"/>
          </a:p>
          <a:p>
            <a:r>
              <a:rPr lang="zh-CN" altLang="en-US" sz="1200" dirty="0"/>
              <a:t>可基于同一会议并行执行</a:t>
            </a: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084128FF-21BF-D250-0460-11A895FA14E6}"/>
              </a:ext>
            </a:extLst>
          </p:cNvPr>
          <p:cNvSpPr txBox="1"/>
          <p:nvPr/>
        </p:nvSpPr>
        <p:spPr>
          <a:xfrm>
            <a:off x="7622318" y="4151184"/>
            <a:ext cx="2894082" cy="646331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事实一致性检验：对齐原始转写</a:t>
            </a:r>
            <a:endParaRPr lang="en-US" altLang="zh-CN" sz="1200" dirty="0"/>
          </a:p>
          <a:p>
            <a:r>
              <a:rPr lang="zh-CN" altLang="en-US" sz="1200" dirty="0"/>
              <a:t>完整度审查：对照议程校验遗漏事项</a:t>
            </a:r>
            <a:endParaRPr lang="en-US" altLang="zh-CN" sz="1200" dirty="0"/>
          </a:p>
          <a:p>
            <a:r>
              <a:rPr lang="zh-CN" altLang="en-US" sz="1200" dirty="0"/>
              <a:t>幻觉纠正：消除前后矛盾论断</a:t>
            </a: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CF3EA8BA-8004-A9D9-1522-BE58F1952B30}"/>
              </a:ext>
            </a:extLst>
          </p:cNvPr>
          <p:cNvSpPr txBox="1"/>
          <p:nvPr/>
        </p:nvSpPr>
        <p:spPr>
          <a:xfrm>
            <a:off x="8302363" y="5146061"/>
            <a:ext cx="1533991" cy="461665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多端自适应渲染</a:t>
            </a:r>
            <a:endParaRPr lang="en-US" altLang="zh-CN" sz="1200" dirty="0"/>
          </a:p>
          <a:p>
            <a:r>
              <a:rPr lang="zh-CN" altLang="en-US" sz="1200" dirty="0"/>
              <a:t>结构化文本生成</a:t>
            </a:r>
          </a:p>
        </p:txBody>
      </p:sp>
    </p:spTree>
    <p:extLst>
      <p:ext uri="{BB962C8B-B14F-4D97-AF65-F5344CB8AC3E}">
        <p14:creationId xmlns:p14="http://schemas.microsoft.com/office/powerpoint/2010/main" val="1709010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2">
            <a:extLst>
              <a:ext uri="{FF2B5EF4-FFF2-40B4-BE49-F238E27FC236}">
                <a16:creationId xmlns:a16="http://schemas.microsoft.com/office/drawing/2014/main" id="{C472DE0D-B209-4C8F-8BAC-4B999C3D77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835" y="176639"/>
            <a:ext cx="11821869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806524">
              <a:spcAft>
                <a:spcPct val="15000"/>
              </a:spcAft>
            </a:pP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小艺慧记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云侧基于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系统，打造多任务、多模态、多语种、后修正能力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Line 23">
            <a:extLst>
              <a:ext uri="{FF2B5EF4-FFF2-40B4-BE49-F238E27FC236}">
                <a16:creationId xmlns:a16="http://schemas.microsoft.com/office/drawing/2014/main" id="{BBBB5E45-C6B8-4320-9E35-2A3DD989E5C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290" y="620312"/>
            <a:ext cx="12023419" cy="16871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8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0B4EE5AC-2757-44C3-B622-EC7B32233836}"/>
              </a:ext>
            </a:extLst>
          </p:cNvPr>
          <p:cNvSpPr/>
          <p:nvPr/>
        </p:nvSpPr>
        <p:spPr>
          <a:xfrm>
            <a:off x="212030" y="926354"/>
            <a:ext cx="11776329" cy="2784357"/>
          </a:xfrm>
          <a:prstGeom prst="roundRect">
            <a:avLst>
              <a:gd name="adj" fmla="val 4525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9A86695E-E535-4625-9553-93DAE7FA9566}"/>
              </a:ext>
            </a:extLst>
          </p:cNvPr>
          <p:cNvSpPr/>
          <p:nvPr/>
        </p:nvSpPr>
        <p:spPr>
          <a:xfrm>
            <a:off x="6096000" y="4022305"/>
            <a:ext cx="5892360" cy="2682180"/>
          </a:xfrm>
          <a:prstGeom prst="roundRect">
            <a:avLst>
              <a:gd name="adj" fmla="val 4525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93DBEABF-CA54-4B4E-B802-1DCA4D978503}"/>
              </a:ext>
            </a:extLst>
          </p:cNvPr>
          <p:cNvSpPr/>
          <p:nvPr/>
        </p:nvSpPr>
        <p:spPr>
          <a:xfrm>
            <a:off x="203642" y="4028321"/>
            <a:ext cx="5811210" cy="2682180"/>
          </a:xfrm>
          <a:prstGeom prst="roundRect">
            <a:avLst>
              <a:gd name="adj" fmla="val 4525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Rectangle 27"/>
          <p:cNvSpPr/>
          <p:nvPr/>
        </p:nvSpPr>
        <p:spPr>
          <a:xfrm>
            <a:off x="4937760" y="786384"/>
            <a:ext cx="22860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600" b="1">
                <a:solidFill>
                  <a:srgbClr val="111827"/>
                </a:solidFill>
                <a:latin typeface="微软雅黑"/>
              </a:defRPr>
            </a:pPr>
            <a:r>
              <a:t>云侧Agent系统架构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48840" y="3886200"/>
            <a:ext cx="192024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600" b="1">
                <a:solidFill>
                  <a:srgbClr val="111827"/>
                </a:solidFill>
                <a:latin typeface="微软雅黑"/>
              </a:defRPr>
            </a:pPr>
            <a:r>
              <a:t>正在进行的工作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83879" y="3886200"/>
            <a:ext cx="192024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600" b="1">
                <a:solidFill>
                  <a:srgbClr val="111827"/>
                </a:solidFill>
                <a:latin typeface="微软雅黑"/>
              </a:defRPr>
            </a:pPr>
            <a:r>
              <a:t>后续重点问题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" y="1097280"/>
            <a:ext cx="11292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1">
                <a:solidFill>
                  <a:srgbClr val="C00000"/>
                </a:solidFill>
                <a:latin typeface="微软雅黑"/>
              </a:defRPr>
            </a:pPr>
            <a:r>
              <a:t>□ 以多 Agent 协作框架为底座，提升已有能力，扩展新能力，输出慧记能力赋能其他团队。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60423" y="1399032"/>
            <a:ext cx="1536192" cy="2560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050" b="1">
                <a:solidFill>
                  <a:srgbClr val="111827"/>
                </a:solidFill>
                <a:latin typeface="微软雅黑"/>
              </a:defRPr>
            </a:pPr>
            <a:r>
              <a:t>语 音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44087" y="1399032"/>
            <a:ext cx="1536192" cy="2560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050" b="1">
                <a:solidFill>
                  <a:srgbClr val="111827"/>
                </a:solidFill>
                <a:latin typeface="微软雅黑"/>
              </a:defRPr>
            </a:pPr>
            <a:r>
              <a:t>文 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27751" y="1399032"/>
            <a:ext cx="1536192" cy="2560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050" b="1">
                <a:solidFill>
                  <a:srgbClr val="111827"/>
                </a:solidFill>
                <a:latin typeface="微软雅黑"/>
              </a:defRPr>
            </a:pPr>
            <a:r>
              <a:t>图 片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11415" y="1399032"/>
            <a:ext cx="1536192" cy="2560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050" b="1">
                <a:solidFill>
                  <a:srgbClr val="111827"/>
                </a:solidFill>
                <a:latin typeface="微软雅黑"/>
              </a:defRPr>
            </a:pPr>
            <a:r>
              <a:t>文 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95079" y="1399032"/>
            <a:ext cx="1536192" cy="2560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050" b="1">
                <a:solidFill>
                  <a:srgbClr val="111827"/>
                </a:solidFill>
                <a:latin typeface="微软雅黑"/>
              </a:defRPr>
            </a:pPr>
            <a:r>
              <a:t>记 忆</a:t>
            </a:r>
          </a:p>
        </p:txBody>
      </p:sp>
      <p:sp>
        <p:nvSpPr>
          <p:cNvPr id="37" name="Down Arrow 36"/>
          <p:cNvSpPr/>
          <p:nvPr/>
        </p:nvSpPr>
        <p:spPr>
          <a:xfrm>
            <a:off x="2282799" y="1673352"/>
            <a:ext cx="91440" cy="91440"/>
          </a:xfrm>
          <a:prstGeom prst="down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own Arrow 37"/>
          <p:cNvSpPr/>
          <p:nvPr/>
        </p:nvSpPr>
        <p:spPr>
          <a:xfrm>
            <a:off x="4166463" y="1673352"/>
            <a:ext cx="91440" cy="91440"/>
          </a:xfrm>
          <a:prstGeom prst="down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own Arrow 38"/>
          <p:cNvSpPr/>
          <p:nvPr/>
        </p:nvSpPr>
        <p:spPr>
          <a:xfrm>
            <a:off x="6050127" y="1673352"/>
            <a:ext cx="91440" cy="91440"/>
          </a:xfrm>
          <a:prstGeom prst="down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own Arrow 39"/>
          <p:cNvSpPr/>
          <p:nvPr/>
        </p:nvSpPr>
        <p:spPr>
          <a:xfrm>
            <a:off x="7933791" y="1673352"/>
            <a:ext cx="91440" cy="91440"/>
          </a:xfrm>
          <a:prstGeom prst="down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own Arrow 40"/>
          <p:cNvSpPr/>
          <p:nvPr/>
        </p:nvSpPr>
        <p:spPr>
          <a:xfrm>
            <a:off x="9817455" y="1673352"/>
            <a:ext cx="91440" cy="91440"/>
          </a:xfrm>
          <a:prstGeom prst="down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986887" y="1764792"/>
            <a:ext cx="6217920" cy="2926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50" b="1">
                <a:solidFill>
                  <a:srgbClr val="C00000"/>
                </a:solidFill>
                <a:latin typeface="微软雅黑"/>
              </a:defRPr>
            </a:pPr>
            <a:r>
              <a:t>AI听记统一控件</a:t>
            </a:r>
          </a:p>
        </p:txBody>
      </p:sp>
      <p:sp>
        <p:nvSpPr>
          <p:cNvPr id="43" name="Down Arrow 42"/>
          <p:cNvSpPr/>
          <p:nvPr/>
        </p:nvSpPr>
        <p:spPr>
          <a:xfrm>
            <a:off x="5894679" y="2075688"/>
            <a:ext cx="402336" cy="146304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84048" y="2240280"/>
            <a:ext cx="11430000" cy="1417320"/>
          </a:xfrm>
          <a:prstGeom prst="roundRect">
            <a:avLst/>
          </a:prstGeom>
          <a:noFill/>
          <a:ln w="1270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66928" y="2295144"/>
            <a:ext cx="2505456" cy="1307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2359152"/>
            <a:ext cx="232257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150" b="1">
                <a:solidFill>
                  <a:srgbClr val="C00000"/>
                </a:solidFill>
                <a:latin typeface="微软雅黑"/>
              </a:defRPr>
            </a:pPr>
            <a:r>
              <a:t>感知理解层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9808" y="2606040"/>
            <a:ext cx="2139696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6656" y="2633472"/>
            <a:ext cx="2286000" cy="941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111827"/>
                </a:solidFill>
                <a:latin typeface="微软雅黑"/>
              </a:defRPr>
            </a:pPr>
            <a:r>
              <a:t>• 会议理解Agent：</a:t>
            </a:r>
            <a:r>
              <a:rPr sz="880" b="0">
                <a:solidFill>
                  <a:srgbClr val="4B5563"/>
                </a:solidFill>
                <a:latin typeface="微软雅黑"/>
              </a:rPr>
              <a:t>抽取会议事实底座</a:t>
            </a:r>
          </a:p>
          <a:p>
            <a:pPr>
              <a:defRPr sz="900" b="1">
                <a:solidFill>
                  <a:srgbClr val="111827"/>
                </a:solidFill>
                <a:latin typeface="微软雅黑"/>
              </a:defRPr>
            </a:pPr>
            <a:r>
              <a:t>• 视角建模Agent：</a:t>
            </a:r>
            <a:r>
              <a:rPr sz="880" b="0">
                <a:solidFill>
                  <a:srgbClr val="4B5563"/>
                </a:solidFill>
                <a:latin typeface="微软雅黑"/>
              </a:rPr>
              <a:t>构建个人/专属视角</a:t>
            </a:r>
          </a:p>
          <a:p>
            <a:pPr>
              <a:defRPr sz="900" b="1">
                <a:solidFill>
                  <a:srgbClr val="111827"/>
                </a:solidFill>
                <a:latin typeface="微软雅黑"/>
              </a:defRPr>
            </a:pPr>
            <a:r>
              <a:t>• 多模态对齐：</a:t>
            </a:r>
            <a:r>
              <a:rPr sz="880" b="0">
                <a:solidFill>
                  <a:srgbClr val="4B5563"/>
                </a:solidFill>
                <a:latin typeface="微软雅黑"/>
              </a:rPr>
              <a:t>文本/图片/音频层级解析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3145536" y="2894076"/>
            <a:ext cx="201168" cy="109728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3419856" y="2295144"/>
            <a:ext cx="2505456" cy="1307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11296" y="2359152"/>
            <a:ext cx="232257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150" b="1">
                <a:solidFill>
                  <a:srgbClr val="C00000"/>
                </a:solidFill>
                <a:latin typeface="微软雅黑"/>
              </a:defRPr>
            </a:pPr>
            <a:r>
              <a:t>任务分发层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02736" y="2606040"/>
            <a:ext cx="2139696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29584" y="2633472"/>
            <a:ext cx="2286000" cy="941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111827"/>
                </a:solidFill>
                <a:latin typeface="微软雅黑"/>
              </a:defRPr>
            </a:pPr>
            <a:r>
              <a:t>• 核心任务：</a:t>
            </a:r>
            <a:r>
              <a:rPr sz="880" b="0">
                <a:solidFill>
                  <a:srgbClr val="4B5563"/>
                </a:solidFill>
                <a:latin typeface="微软雅黑"/>
              </a:rPr>
              <a:t>模板纪要、溯源纪要、议程纪要</a:t>
            </a:r>
          </a:p>
          <a:p>
            <a:pPr>
              <a:defRPr sz="900" b="1">
                <a:solidFill>
                  <a:srgbClr val="111827"/>
                </a:solidFill>
                <a:latin typeface="微软雅黑"/>
              </a:defRPr>
            </a:pPr>
            <a:r>
              <a:t>• 派生任务：</a:t>
            </a:r>
            <a:r>
              <a:rPr sz="880" b="0">
                <a:solidFill>
                  <a:srgbClr val="4B5563"/>
                </a:solidFill>
                <a:latin typeface="微软雅黑"/>
              </a:rPr>
              <a:t>待办提取、风险分析、思维导图</a:t>
            </a:r>
          </a:p>
          <a:p>
            <a:pPr>
              <a:defRPr sz="900" b="1">
                <a:solidFill>
                  <a:srgbClr val="111827"/>
                </a:solidFill>
                <a:latin typeface="微软雅黑"/>
              </a:defRPr>
            </a:pPr>
            <a:r>
              <a:t>• 并行执行：</a:t>
            </a:r>
            <a:r>
              <a:rPr sz="880" b="0">
                <a:solidFill>
                  <a:srgbClr val="4B5563"/>
                </a:solidFill>
                <a:latin typeface="微软雅黑"/>
              </a:rPr>
              <a:t>基于事实底座多任务并发调度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5998464" y="2894076"/>
            <a:ext cx="201168" cy="109728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272784" y="2295144"/>
            <a:ext cx="2505456" cy="1307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64224" y="2359152"/>
            <a:ext cx="232257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150" b="1">
                <a:solidFill>
                  <a:srgbClr val="C00000"/>
                </a:solidFill>
                <a:latin typeface="微软雅黑"/>
              </a:defRPr>
            </a:pPr>
            <a:r>
              <a:t>质检审核层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55664" y="2606040"/>
            <a:ext cx="2139696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82512" y="2633472"/>
            <a:ext cx="2286000" cy="941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111827"/>
                </a:solidFill>
                <a:latin typeface="微软雅黑"/>
              </a:defRPr>
            </a:pPr>
            <a:r>
              <a:t>• 审核Agent：</a:t>
            </a:r>
            <a:r>
              <a:rPr sz="880" b="0">
                <a:solidFill>
                  <a:srgbClr val="4B5563"/>
                </a:solidFill>
                <a:latin typeface="微软雅黑"/>
              </a:rPr>
              <a:t>幻觉消除与一致性检验</a:t>
            </a:r>
          </a:p>
          <a:p>
            <a:pPr>
              <a:defRPr sz="900" b="1">
                <a:solidFill>
                  <a:srgbClr val="111827"/>
                </a:solidFill>
                <a:latin typeface="微软雅黑"/>
              </a:defRPr>
            </a:pPr>
            <a:r>
              <a:t>• 事实对齐：</a:t>
            </a:r>
            <a:r>
              <a:rPr sz="880" b="0">
                <a:solidFill>
                  <a:srgbClr val="4B5563"/>
                </a:solidFill>
                <a:latin typeface="微软雅黑"/>
              </a:rPr>
              <a:t>反向对齐原始转写证据链</a:t>
            </a:r>
          </a:p>
          <a:p>
            <a:pPr>
              <a:defRPr sz="900" b="1">
                <a:solidFill>
                  <a:srgbClr val="111827"/>
                </a:solidFill>
                <a:latin typeface="微软雅黑"/>
              </a:defRPr>
            </a:pPr>
            <a:r>
              <a:t>• 审核门禁：</a:t>
            </a:r>
            <a:r>
              <a:rPr sz="880" b="0">
                <a:solidFill>
                  <a:srgbClr val="4B5563"/>
                </a:solidFill>
                <a:latin typeface="微软雅黑"/>
              </a:rPr>
              <a:t>短会极速放行 &amp; 规则守卫</a:t>
            </a:r>
          </a:p>
        </p:txBody>
      </p:sp>
      <p:sp>
        <p:nvSpPr>
          <p:cNvPr id="59" name="Right Arrow 58"/>
          <p:cNvSpPr/>
          <p:nvPr/>
        </p:nvSpPr>
        <p:spPr>
          <a:xfrm>
            <a:off x="8851392" y="2894076"/>
            <a:ext cx="201168" cy="109728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9125712" y="2295144"/>
            <a:ext cx="2505456" cy="1307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217152" y="2359152"/>
            <a:ext cx="232257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150" b="1">
                <a:solidFill>
                  <a:srgbClr val="C00000"/>
                </a:solidFill>
                <a:latin typeface="微软雅黑"/>
              </a:defRPr>
            </a:pPr>
            <a:r>
              <a:t>渲染交互层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308592" y="2606040"/>
            <a:ext cx="2139696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235440" y="2633472"/>
            <a:ext cx="2286000" cy="941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111827"/>
                </a:solidFill>
                <a:latin typeface="微软雅黑"/>
              </a:defRPr>
            </a:pPr>
            <a:r>
              <a:t>• 渲染Agent：</a:t>
            </a:r>
            <a:r>
              <a:rPr sz="880" b="0">
                <a:solidFill>
                  <a:srgbClr val="4B5563"/>
                </a:solidFill>
                <a:latin typeface="微软雅黑"/>
              </a:rPr>
              <a:t>多端自适应渲染与排版</a:t>
            </a:r>
          </a:p>
          <a:p>
            <a:pPr>
              <a:defRPr sz="900" b="1">
                <a:solidFill>
                  <a:srgbClr val="111827"/>
                </a:solidFill>
                <a:latin typeface="微软雅黑"/>
              </a:defRPr>
            </a:pPr>
            <a:r>
              <a:t>• 结构化交付：</a:t>
            </a:r>
            <a:r>
              <a:rPr sz="880" b="0">
                <a:solidFill>
                  <a:srgbClr val="4B5563"/>
                </a:solidFill>
                <a:latin typeface="微软雅黑"/>
              </a:rPr>
              <a:t>Markdown / HTML / PNG</a:t>
            </a:r>
          </a:p>
          <a:p>
            <a:pPr>
              <a:defRPr sz="900" b="1">
                <a:solidFill>
                  <a:srgbClr val="111827"/>
                </a:solidFill>
                <a:latin typeface="微软雅黑"/>
              </a:defRPr>
            </a:pPr>
            <a:r>
              <a:t>• 可解释交互：</a:t>
            </a:r>
            <a:r>
              <a:rPr sz="880" b="0">
                <a:solidFill>
                  <a:srgbClr val="4B5563"/>
                </a:solidFill>
                <a:latin typeface="微软雅黑"/>
              </a:rPr>
              <a:t>时间戳溯源与导图大纲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8912" y="4297680"/>
            <a:ext cx="534924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111827"/>
                </a:solidFill>
                <a:latin typeface="微软雅黑"/>
              </a:defRPr>
            </a:pPr>
            <a:r>
              <a:t>多任务协同跑通：</a:t>
            </a:r>
            <a:r>
              <a:rPr sz="1000" b="0">
                <a:solidFill>
                  <a:srgbClr val="374151"/>
                </a:solidFill>
                <a:latin typeface="微软雅黑"/>
              </a:rPr>
              <a:t>会议纪要、溯源纪要、待办提取、风险分析、思维导图等任务线跑通，Gradio 原型支持多任务并行调度与结果预览。</a:t>
            </a:r>
          </a:p>
          <a:p>
            <a:pPr>
              <a:spcBef>
                <a:spcPts val="600"/>
              </a:spcBef>
              <a:defRPr sz="1050" b="1">
                <a:solidFill>
                  <a:srgbClr val="111827"/>
                </a:solidFill>
                <a:latin typeface="微软雅黑"/>
              </a:defRPr>
            </a:pPr>
            <a:r>
              <a:t>溯源纪要深度优化：</a:t>
            </a:r>
            <a:r>
              <a:rPr sz="1000" b="0">
                <a:solidFill>
                  <a:srgbClr val="374151"/>
                </a:solidFill>
                <a:latin typeface="微软雅黑"/>
              </a:rPr>
              <a:t>落地场景匹配与通用兜底机制；强化会议结论、风险与行动项的证据链挂载，支持用户笔记与关键点精准对齐。</a:t>
            </a:r>
          </a:p>
          <a:p>
            <a:pPr>
              <a:spcBef>
                <a:spcPts val="600"/>
              </a:spcBef>
              <a:defRPr sz="1050" b="1">
                <a:solidFill>
                  <a:srgbClr val="111827"/>
                </a:solidFill>
                <a:latin typeface="微软雅黑"/>
              </a:defRPr>
            </a:pPr>
            <a:r>
              <a:t>会议记忆沉淀写回：</a:t>
            </a:r>
            <a:r>
              <a:rPr sz="1000" b="0">
                <a:solidFill>
                  <a:srgbClr val="374151"/>
                </a:solidFill>
                <a:latin typeface="微软雅黑"/>
              </a:rPr>
              <a:t>实现跨场次项目目标、议题、决议、风险的记忆写回；正文采用下划线优雅标记，底部规范展示历史会议来源。</a:t>
            </a:r>
          </a:p>
          <a:p>
            <a:pPr>
              <a:spcBef>
                <a:spcPts val="600"/>
              </a:spcBef>
              <a:defRPr sz="1050" b="1">
                <a:solidFill>
                  <a:srgbClr val="111827"/>
                </a:solidFill>
                <a:latin typeface="微软雅黑"/>
              </a:defRPr>
            </a:pPr>
            <a:r>
              <a:t>审核门禁与瘦身降耗：</a:t>
            </a:r>
            <a:r>
              <a:rPr sz="1000" b="0">
                <a:solidFill>
                  <a:srgbClr val="374151"/>
                </a:solidFill>
                <a:latin typeface="微软雅黑"/>
              </a:rPr>
              <a:t>建立短会极速放行（Fast-Path）与零 LLM 事实守卫门禁；送审稿精简瘦身，降低 60%+ 审核 Token 开销与响应延迟。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27648" y="4297680"/>
            <a:ext cx="544068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111827"/>
                </a:solidFill>
                <a:latin typeface="微软雅黑"/>
              </a:defRPr>
            </a:pPr>
            <a:r>
              <a:t>防幻觉与可解释性平衡：</a:t>
            </a:r>
            <a:r>
              <a:rPr sz="1000" b="0">
                <a:solidFill>
                  <a:srgbClr val="374151"/>
                </a:solidFill>
                <a:latin typeface="微软雅黑"/>
              </a:rPr>
              <a:t>记忆引用与证据挂载需兼顾阅读流畅度与可信度；持续优化下划线交互感知，避免过度标引与生硬工程化标记。</a:t>
            </a:r>
          </a:p>
          <a:p>
            <a:pPr>
              <a:spcBef>
                <a:spcPts val="600"/>
              </a:spcBef>
              <a:defRPr sz="1050" b="1">
                <a:solidFill>
                  <a:srgbClr val="111827"/>
                </a:solidFill>
                <a:latin typeface="微软雅黑"/>
              </a:defRPr>
            </a:pPr>
            <a:r>
              <a:t>跨会议长周期抗干扰：</a:t>
            </a:r>
            <a:r>
              <a:rPr sz="1000" b="0">
                <a:solidFill>
                  <a:srgbClr val="374151"/>
                </a:solidFill>
                <a:latin typeface="微软雅黑"/>
              </a:rPr>
              <a:t>多场次复杂会议中，需防止历史遗留风险过度关联至当前待办；有效隔离口语化情绪批注对正式结论的干扰。</a:t>
            </a:r>
          </a:p>
          <a:p>
            <a:pPr>
              <a:spcBef>
                <a:spcPts val="600"/>
              </a:spcBef>
              <a:defRPr sz="1050" b="1">
                <a:solidFill>
                  <a:srgbClr val="111827"/>
                </a:solidFill>
                <a:latin typeface="微软雅黑"/>
              </a:defRPr>
            </a:pPr>
            <a:r>
              <a:t>模板并发写与时延瓶颈：</a:t>
            </a:r>
            <a:r>
              <a:rPr sz="1000" b="0">
                <a:solidFill>
                  <a:srgbClr val="374151"/>
                </a:solidFill>
                <a:latin typeface="微软雅黑"/>
              </a:rPr>
              <a:t>长篇复合型纪要单体串行生成耗时较长；需攻坚基于模板 AST 槽位化的多 Agent 并发写入与流式动态组装。</a:t>
            </a:r>
          </a:p>
          <a:p>
            <a:pPr>
              <a:spcBef>
                <a:spcPts val="600"/>
              </a:spcBef>
              <a:defRPr sz="1050" b="1">
                <a:solidFill>
                  <a:srgbClr val="111827"/>
                </a:solidFill>
                <a:latin typeface="微软雅黑"/>
              </a:defRPr>
            </a:pPr>
            <a:r>
              <a:t>多端多业务深度协同：</a:t>
            </a:r>
            <a:r>
              <a:rPr sz="1000" b="0">
                <a:solidFill>
                  <a:srgbClr val="374151"/>
                </a:solidFill>
                <a:latin typeface="微软雅黑"/>
              </a:rPr>
              <a:t>推进统一控件与更多终端生态（通话、平板、手表等）对接，实现端云协同与个性化体验一致。</a:t>
            </a:r>
          </a:p>
        </p:txBody>
      </p:sp>
    </p:spTree>
    <p:extLst>
      <p:ext uri="{BB962C8B-B14F-4D97-AF65-F5344CB8AC3E}">
        <p14:creationId xmlns:p14="http://schemas.microsoft.com/office/powerpoint/2010/main" val="2276622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640</TotalTime>
  <Words>221</Words>
  <Application>Microsoft Office PowerPoint</Application>
  <PresentationFormat>宽屏</PresentationFormat>
  <Paragraphs>43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quote-cjk-patch</vt:lpstr>
      <vt:lpstr>等线</vt:lpstr>
      <vt:lpstr>等线 Light</vt:lpstr>
      <vt:lpstr>微软雅黑</vt:lpstr>
      <vt:lpstr>微软雅黑</vt:lpstr>
      <vt:lpstr>Arial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Xuyue</dc:creator>
  <cp:lastModifiedBy>houyefei</cp:lastModifiedBy>
  <cp:revision>84</cp:revision>
  <dcterms:created xsi:type="dcterms:W3CDTF">2026-09-19T13:37:00Z</dcterms:created>
  <dcterms:modified xsi:type="dcterms:W3CDTF">2026-10-10T04:51:03Z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readonly">
    <vt:lpwstr/>
  </property>
  <property fmtid="{D5CDD505-2E9C-101B-9397-08002B2CF9AE}" pid="3" name="_change">
    <vt:lpwstr/>
  </property>
  <property fmtid="{D5CDD505-2E9C-101B-9397-08002B2CF9AE}" pid="4" name="_full-control">
    <vt:lpwstr/>
  </property>
  <property fmtid="{D5CDD505-2E9C-101B-9397-08002B2CF9AE}" pid="5" name="sflag">
    <vt:lpwstr>1791607123</vt:lpwstr>
  </property>
</Properties>
</file>
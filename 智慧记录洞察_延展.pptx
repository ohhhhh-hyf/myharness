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  <p:sldMasterId id="2147483668" r:id="rId3"/>
  </p:sldMasterIdLst>
  <p:notesMasterIdLst>
    <p:notesMasterId r:id="rId12"/>
  </p:notesMasterIdLst>
  <p:sldIdLst>
    <p:sldId id="2147483601" r:id="rId4"/>
    <p:sldId id="2147483602" r:id="rId5"/>
    <p:sldId id="2147483603" r:id="rId6"/>
    <p:sldId id="2147483609" r:id="rId17"/>
    <p:sldId id="2147483604" r:id="rId7"/>
    <p:sldId id="2147483610" r:id="rId18"/>
    <p:sldId id="2147483605" r:id="rId8"/>
    <p:sldId id="2147483611" r:id="rId19"/>
    <p:sldId id="2147483606" r:id="rId9"/>
    <p:sldId id="2147483612" r:id="rId20"/>
    <p:sldId id="2147483607" r:id="rId10"/>
    <p:sldId id="2147483613" r:id="rId21"/>
    <p:sldId id="2147483615" r:id="rId23"/>
    <p:sldId id="2147483616" r:id="rId24"/>
    <p:sldId id="2147483608" r:id="rId11"/>
    <p:sldId id="214748361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F48"/>
    <a:srgbClr val="C00000"/>
    <a:srgbClr val="DDEAF7"/>
    <a:srgbClr val="5C9BD5"/>
    <a:srgbClr val="6CA5D9"/>
    <a:srgbClr val="DEEBF7"/>
    <a:srgbClr val="F5F8FE"/>
    <a:srgbClr val="343E46"/>
    <a:srgbClr val="667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 autoAdjust="0"/>
    <p:restoredTop sz="81629" autoAdjust="0"/>
  </p:normalViewPr>
  <p:slideViewPr>
    <p:cSldViewPr snapToGrid="0">
      <p:cViewPr varScale="1">
        <p:scale>
          <a:sx n="115" d="100"/>
          <a:sy n="115" d="100"/>
        </p:scale>
        <p:origin x="1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slide" Target="slides/slide1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6.xml"/><Relationship Id="rId19" Type="http://schemas.openxmlformats.org/officeDocument/2006/relationships/slide" Target="slides/slide8.xml"/><Relationship Id="rId20" Type="http://schemas.openxmlformats.org/officeDocument/2006/relationships/slide" Target="slides/slide10.xml"/><Relationship Id="rId21" Type="http://schemas.openxmlformats.org/officeDocument/2006/relationships/slide" Target="slides/slide12.xml"/><Relationship Id="rId22" Type="http://schemas.openxmlformats.org/officeDocument/2006/relationships/slide" Target="slides/slide16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21F13-393F-4530-A220-B4DF84B54F2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65F2-73BC-43AE-875B-67BAD6EFC3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2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65F2-73BC-43AE-875B-67BAD6EFC3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7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98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产品：国内、国外、软件、硬件、特性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独立会议纪要软件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原有会议平台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+AI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18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400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691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5075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3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65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C8C02C-DDDC-99ED-AB4D-80BC3DC503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26350-8598-1D6E-75E2-F0A35174CF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8" y="6330950"/>
            <a:ext cx="12493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67CE97E-FDA5-4904-36B5-B971714B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FC57CCE-4B21-46FA-8DF9-9AE80427FC2A}" type="slidenum">
              <a:rPr lang="zh-CN" altLang="en-US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59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376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03594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018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5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975" indent="0" algn="ctr">
              <a:buNone/>
              <a:defRPr sz="2334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7438" indent="0" algn="ctr">
              <a:buNone/>
              <a:defRPr sz="2079"/>
            </a:lvl6pPr>
            <a:lvl7pPr marL="3560290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89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4747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Relationship Id="rId5" Type="http://schemas.openxmlformats.org/officeDocument/2006/relationships/image" Target="../media/image3.tif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7" Type="http://schemas.openxmlformats.org/officeDocument/2006/relationships/image" Target="../media/image7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0" y="0"/>
            <a:ext cx="12199234" cy="68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72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2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50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38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D32A324E-25A7-442D-B51B-1DD93A275E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77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799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6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23391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zh-CN" altLang="en-US" sz="4200" b="1">
                <a:solidFill>
                  <a:srgbClr val="231815"/>
                </a:solidFill>
                <a:latin typeface="Huawei Sans Medium" panose="020C0603030203020204" pitchFamily="34" charset="0"/>
              </a:rPr>
              <a:t>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2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>
            <a:extLst>
              <a:ext uri="{FF2B5EF4-FFF2-40B4-BE49-F238E27FC236}">
                <a16:creationId xmlns:a16="http://schemas.microsoft.com/office/drawing/2014/main" id="{D4DFD8C2-FB90-4412-83D1-ED44DD84F319}"/>
              </a:ext>
            </a:extLst>
          </p:cNvPr>
          <p:cNvSpPr txBox="1">
            <a:spLocks noChangeArrowheads="1"/>
          </p:cNvSpPr>
          <p:nvPr/>
        </p:nvSpPr>
        <p:spPr>
          <a:xfrm>
            <a:off x="790220" y="574620"/>
            <a:ext cx="1368993" cy="985239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4000" b="1" dirty="0">
                <a:latin typeface="+mn-lt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A6B95E-DA7E-4C45-97B3-891CFDF7949E}"/>
              </a:ext>
            </a:extLst>
          </p:cNvPr>
          <p:cNvCxnSpPr>
            <a:cxnSpLocks/>
          </p:cNvCxnSpPr>
          <p:nvPr/>
        </p:nvCxnSpPr>
        <p:spPr>
          <a:xfrm>
            <a:off x="782536" y="1567543"/>
            <a:ext cx="109236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C8EC8A-D4EE-4430-9826-33C600FA18B7}"/>
              </a:ext>
            </a:extLst>
          </p:cNvPr>
          <p:cNvGrpSpPr/>
          <p:nvPr/>
        </p:nvGrpSpPr>
        <p:grpSpPr>
          <a:xfrm>
            <a:off x="1144921" y="1940838"/>
            <a:ext cx="4417679" cy="523056"/>
            <a:chOff x="1050485" y="1748082"/>
            <a:chExt cx="3955722" cy="523260"/>
          </a:xfrm>
        </p:grpSpPr>
        <p:sp>
          <p:nvSpPr>
            <p:cNvPr id="8" name="Text 22">
              <a:extLst>
                <a:ext uri="{FF2B5EF4-FFF2-40B4-BE49-F238E27FC236}">
                  <a16:creationId xmlns:a16="http://schemas.microsoft.com/office/drawing/2014/main" id="{4251C606-8FF0-46C3-A763-D38FF5514532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9" name="Text 23">
              <a:extLst>
                <a:ext uri="{FF2B5EF4-FFF2-40B4-BE49-F238E27FC236}">
                  <a16:creationId xmlns:a16="http://schemas.microsoft.com/office/drawing/2014/main" id="{390E26C9-BFA8-4BE5-BAF0-458BCB644430}"/>
                </a:ext>
              </a:extLst>
            </p:cNvPr>
            <p:cNvSpPr/>
            <p:nvPr/>
          </p:nvSpPr>
          <p:spPr>
            <a:xfrm>
              <a:off x="1867778" y="1748082"/>
              <a:ext cx="3138429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背景与洞察框架</a:t>
              </a:r>
              <a:endParaRPr lang="en-US" sz="27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CAEEBCF-B621-4C9D-B978-1C58CD4AD286}"/>
              </a:ext>
            </a:extLst>
          </p:cNvPr>
          <p:cNvGrpSpPr/>
          <p:nvPr/>
        </p:nvGrpSpPr>
        <p:grpSpPr>
          <a:xfrm>
            <a:off x="1144921" y="2837150"/>
            <a:ext cx="5778393" cy="523016"/>
            <a:chOff x="1050485" y="1748082"/>
            <a:chExt cx="5174146" cy="523220"/>
          </a:xfrm>
        </p:grpSpPr>
        <p:sp>
          <p:nvSpPr>
            <p:cNvPr id="11" name="Text 22">
              <a:extLst>
                <a:ext uri="{FF2B5EF4-FFF2-40B4-BE49-F238E27FC236}">
                  <a16:creationId xmlns:a16="http://schemas.microsoft.com/office/drawing/2014/main" id="{350622CB-7FFD-4307-AE69-8C34D24EC66B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02</a:t>
              </a:r>
            </a:p>
          </p:txBody>
        </p:sp>
        <p:sp>
          <p:nvSpPr>
            <p:cNvPr id="12" name="Text 23">
              <a:extLst>
                <a:ext uri="{FF2B5EF4-FFF2-40B4-BE49-F238E27FC236}">
                  <a16:creationId xmlns:a16="http://schemas.microsoft.com/office/drawing/2014/main" id="{2BB38289-F2E6-4729-AB65-9716BE488F22}"/>
                </a:ext>
              </a:extLst>
            </p:cNvPr>
            <p:cNvSpPr/>
            <p:nvPr/>
          </p:nvSpPr>
          <p:spPr>
            <a:xfrm>
              <a:off x="1867778" y="1748082"/>
              <a:ext cx="4356853" cy="52322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产品与业务现状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6AE136-A390-4607-BA6B-37B68C26BEE3}"/>
              </a:ext>
            </a:extLst>
          </p:cNvPr>
          <p:cNvGrpSpPr/>
          <p:nvPr/>
        </p:nvGrpSpPr>
        <p:grpSpPr>
          <a:xfrm>
            <a:off x="1144921" y="3733462"/>
            <a:ext cx="5778393" cy="523056"/>
            <a:chOff x="1050485" y="1748082"/>
            <a:chExt cx="5174147" cy="523260"/>
          </a:xfrm>
        </p:grpSpPr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C9470133-7C9D-431F-BE4B-A68711BA265F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03</a:t>
              </a:r>
            </a:p>
          </p:txBody>
        </p:sp>
        <p:sp>
          <p:nvSpPr>
            <p:cNvPr id="15" name="Text 23">
              <a:extLst>
                <a:ext uri="{FF2B5EF4-FFF2-40B4-BE49-F238E27FC236}">
                  <a16:creationId xmlns:a16="http://schemas.microsoft.com/office/drawing/2014/main" id="{D979ECD9-45CE-42A4-B643-3CF066C577B7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业界产品与场景洞察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1389970-3F19-43AC-8CC1-D075C1C4EB9E}"/>
              </a:ext>
            </a:extLst>
          </p:cNvPr>
          <p:cNvGrpSpPr/>
          <p:nvPr/>
        </p:nvGrpSpPr>
        <p:grpSpPr>
          <a:xfrm>
            <a:off x="6413607" y="1940836"/>
            <a:ext cx="5778393" cy="523056"/>
            <a:chOff x="1050485" y="1748082"/>
            <a:chExt cx="5174147" cy="523260"/>
          </a:xfrm>
        </p:grpSpPr>
        <p:sp>
          <p:nvSpPr>
            <p:cNvPr id="17" name="Text 22">
              <a:extLst>
                <a:ext uri="{FF2B5EF4-FFF2-40B4-BE49-F238E27FC236}">
                  <a16:creationId xmlns:a16="http://schemas.microsoft.com/office/drawing/2014/main" id="{3DBBAE9A-B91C-4E04-A77D-CA7A9492B9FE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04</a:t>
              </a:r>
            </a:p>
          </p:txBody>
        </p:sp>
        <p:sp>
          <p:nvSpPr>
            <p:cNvPr id="18" name="Text 23">
              <a:extLst>
                <a:ext uri="{FF2B5EF4-FFF2-40B4-BE49-F238E27FC236}">
                  <a16:creationId xmlns:a16="http://schemas.microsoft.com/office/drawing/2014/main" id="{B1B2B1A6-C725-4D6F-9612-BF2A9118EBE2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技术趋势与标杆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5A7044-DDF4-43F5-B3F9-D5D30E3233D0}"/>
              </a:ext>
            </a:extLst>
          </p:cNvPr>
          <p:cNvGrpSpPr/>
          <p:nvPr/>
        </p:nvGrpSpPr>
        <p:grpSpPr>
          <a:xfrm>
            <a:off x="6413607" y="2837112"/>
            <a:ext cx="5778393" cy="523056"/>
            <a:chOff x="1050485" y="1748082"/>
            <a:chExt cx="5174147" cy="523260"/>
          </a:xfrm>
        </p:grpSpPr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565C8E74-98D3-486E-9280-CE79C7CC5F83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05</a:t>
              </a:r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ABD8C52D-49B4-4F3E-9B0F-97BD882C32F5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机会与外延增量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B0C27F7-B4E9-4267-931A-F14C9581A06B}"/>
              </a:ext>
            </a:extLst>
          </p:cNvPr>
          <p:cNvGrpSpPr/>
          <p:nvPr/>
        </p:nvGrpSpPr>
        <p:grpSpPr>
          <a:xfrm>
            <a:off x="6413607" y="3733443"/>
            <a:ext cx="5778393" cy="523056"/>
            <a:chOff x="1050485" y="1748082"/>
            <a:chExt cx="5174147" cy="523260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496AE57-18A2-4282-8708-1C5F8BA4F841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06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1BDDAEA-4E63-413F-88BD-F1359647F3F3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战略与路线图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0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1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背景与洞察框架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1007D2-BF89-4F54-9ACE-A2D94B3EE226}"/>
              </a:ext>
            </a:extLst>
          </p:cNvPr>
          <p:cNvSpPr txBox="1"/>
          <p:nvPr/>
        </p:nvSpPr>
        <p:spPr>
          <a:xfrm>
            <a:off x="376989" y="1179095"/>
            <a:ext cx="5824306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核心变化：从文本摘要到多模态、多维度、多记录内容理解及任务执行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技术范围：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ASR+LLM  -&gt; </a:t>
            </a:r>
            <a:r>
              <a:rPr lang="en-US" altLang="zh-CN" sz="1400" dirty="0"/>
              <a:t>ASR+LLM + Multimodal +RAG + Agent + Memory + On-device Model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产品形态：</a:t>
            </a:r>
            <a:r>
              <a:rPr lang="zh-CN" altLang="en-US" sz="1400" dirty="0"/>
              <a:t>记录 → 转写 → 总结   </a:t>
            </a:r>
            <a:r>
              <a:rPr lang="en-US" altLang="zh-CN" sz="1400" dirty="0"/>
              <a:t>-&gt;</a:t>
            </a:r>
            <a:r>
              <a:rPr lang="zh-CN" altLang="en-US" sz="1400" dirty="0"/>
              <a:t>多模态感知 </a:t>
            </a:r>
            <a:r>
              <a:rPr lang="en-US" altLang="zh-CN" sz="1400" dirty="0"/>
              <a:t>+ </a:t>
            </a:r>
            <a:r>
              <a:rPr lang="zh-CN" altLang="en-US" sz="1400" dirty="0"/>
              <a:t>场景理解 </a:t>
            </a:r>
            <a:r>
              <a:rPr lang="en-US" altLang="zh-CN" sz="1400" dirty="0"/>
              <a:t>+ </a:t>
            </a:r>
            <a:r>
              <a:rPr lang="zh-CN" altLang="en-US" sz="1400" dirty="0"/>
              <a:t>智能洞察 </a:t>
            </a:r>
            <a:r>
              <a:rPr lang="en-US" altLang="zh-CN" sz="1400" dirty="0"/>
              <a:t>+ </a:t>
            </a:r>
            <a:r>
              <a:rPr lang="zh-CN" altLang="en-US" sz="1400" dirty="0"/>
              <a:t>工作执行</a:t>
            </a:r>
            <a:endParaRPr lang="en-US" altLang="zh-CN" sz="1400" dirty="0"/>
          </a:p>
          <a:p>
            <a:r>
              <a:rPr lang="zh-CN" altLang="en-US" sz="1400" dirty="0"/>
              <a:t>场景边界：从会议向访谈、课堂、培训、销售、客户沟通等场景扩展；从通用纪要向场景化、角色化扩展；从纪要输出到工作闭环</a:t>
            </a:r>
            <a:endParaRPr lang="en-US" altLang="zh-CN" sz="1400" dirty="0"/>
          </a:p>
          <a:p>
            <a:r>
              <a:rPr lang="zh-CN" altLang="en-US" sz="1400" dirty="0"/>
              <a:t>设备形态：从单一录音设备向手机、耳机、眼镜、</a:t>
            </a:r>
            <a:r>
              <a:rPr lang="en-US" altLang="zh-CN" sz="1400" dirty="0"/>
              <a:t>PC</a:t>
            </a:r>
            <a:r>
              <a:rPr lang="zh-CN" altLang="en-US" sz="1400" dirty="0"/>
              <a:t>等终端生态延伸</a:t>
            </a:r>
            <a:endParaRPr lang="en-US" altLang="zh-CN" sz="1400" dirty="0"/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竞品内容：竞品已有能力、竞品未具备能力、可构建的差异化竞争力；产品、能力、场景、商业模式的多维度对比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机会与外延：慧记当前现状、范围；后续规划（入口形式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软硬件，后端能力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纪要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问答，系统工具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任务执行）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zh-CN" altLang="en-US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095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 背景与洞察框架（延展）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把上一页六条变化落到可判断的框架：昨天 / 现在 / 慧记该停在哪。依据来自业界公开产品和洞察文。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005840"/>
          <a:ext cx="117500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31720"/>
                <a:gridCol w="3703320"/>
                <a:gridCol w="3566160"/>
              </a:tblGrid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上一页的变化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昨天（多数产品还停在这）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现在业界已经走到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慧记该停在哪（判断）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文本摘要 → 多模态/多维度/任务执行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一篇会后摘要，听得到看不到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元宝边录边拍（2026-09-17）；听悟抽幻灯；多维视界看 PPT/白板；Plaud 拍照进上下文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截图已有，下一步是关键帧对齐发言，而不是再加一篇散文摘要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ASR+LLM → +Multimodal +RAG +Agent +Memory +端侧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级联转写+一次总结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 MCP 把会议记忆喂给 Claude；飞书 8.0 Agent 读妙记；ZoomMate 卖动作层约 $20/人/月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RAG/记忆/Agent 是增量；ASR 不要自研（托管 API 已成基础设施）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记录→转写→总结 → 感知+场景+洞察+执行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会后才出文档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腾讯每 2 分钟小结+弹幕+AI 托管；Teams Facilitator 会中搜网；Notion Agent 会后改任务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会中要点可见，会后待办进系统。执行必须人点确认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会议 → 访谈/课堂/培训/销售；通用 → 角色化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一种通用摘要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腾讯面试助手/学霸笔记；慧记已有 8 大场景 29 子场景；Plaud 多维摘要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场景模板是优势，缺的是角色裁剪（主持人/执行人/缺席者）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410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单一录音设备 → 手机/耳机/眼镜/PC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 App 再录一次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系统识别飞书/钉钉/华为云会议并推荐慧记（HarmonyOS 6 支持文档）；讯飞眼镜 40g 翻译后接 GlassClaw 做纪要发邮件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主入口要清：PC/手机慧记一份库，耳机眼镜只做采集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" y="4343400"/>
            <a:ext cx="5806440" cy="228600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怎么判断（不要评谁转写更准）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Laxis 2026：约 62% 用户称每周省约 4 小时；84% 见会里有 Bot 会改口；73% 企业把隐私列为规模化第一障碍。5000 人以上渗透约 43%，小公司 78–81%——卡在治理，不卡模型。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套件把 L1–L3（采集/转写/一篇摘要）价格打穿。能单独要预算的是结构可核对、跨入口同一份库、待办进系统、双语对照、禁录与留存。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343400"/>
            <a:ext cx="5760720" cy="228600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对慧记的四句判断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1. 智慧记录是语音翻译之后最大的增量场景：会中听懂正在被同传和耳机收走，会后结构+执行几乎还是空白。2. 多模态不要做成常驻看屏幕，做成截图/翻页关键帧——你们已经有截图抽内容。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3. 端侧是差异化（高密会议、云模/端模），移动端官方写明转写目前仅中文普通话，和「中英纪要」对外口径必须对齐。4. 先补可核对（跳回原话、说话人改名），再做 Agent 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2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产品与业务现状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A09D-8313-41E7-A8B5-B53782E9A206}"/>
              </a:ext>
            </a:extLst>
          </p:cNvPr>
          <p:cNvSpPr/>
          <p:nvPr/>
        </p:nvSpPr>
        <p:spPr>
          <a:xfrm>
            <a:off x="368878" y="67389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技术路线</a:t>
            </a: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75B8C6-14A1-46D7-93C7-86CDA69B1B09}"/>
              </a:ext>
            </a:extLst>
          </p:cNvPr>
          <p:cNvSpPr/>
          <p:nvPr/>
        </p:nvSpPr>
        <p:spPr>
          <a:xfrm>
            <a:off x="368878" y="239657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体验及功能</a:t>
            </a: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939594-7BC4-4E69-98D4-CD160FFE5509}"/>
              </a:ext>
            </a:extLst>
          </p:cNvPr>
          <p:cNvSpPr/>
          <p:nvPr/>
        </p:nvSpPr>
        <p:spPr>
          <a:xfrm>
            <a:off x="368878" y="523657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设备及生态</a:t>
            </a:r>
            <a:endParaRPr lang="en-US" altLang="zh-CN" sz="1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设备类型：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鸿蒙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PC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、手机、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收音方式：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媒体音、麦克风。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支撑应用：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小艺慧记、录音机、备忘录、同声传译。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5406852-8D34-467E-AA28-2821A9853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082234"/>
              </p:ext>
            </p:extLst>
          </p:nvPr>
        </p:nvGraphicFramePr>
        <p:xfrm>
          <a:off x="453446" y="2724838"/>
          <a:ext cx="5176598" cy="2392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85150">
                  <a:extLst>
                    <a:ext uri="{9D8B030D-6E8A-4147-A177-3AD203B41FA5}">
                      <a16:colId xmlns:a16="http://schemas.microsoft.com/office/drawing/2014/main" val="170693453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665215449"/>
                    </a:ext>
                  </a:extLst>
                </a:gridCol>
                <a:gridCol w="3684866">
                  <a:extLst>
                    <a:ext uri="{9D8B030D-6E8A-4147-A177-3AD203B41FA5}">
                      <a16:colId xmlns:a16="http://schemas.microsoft.com/office/drawing/2014/main" val="718439040"/>
                    </a:ext>
                  </a:extLst>
                </a:gridCol>
              </a:tblGrid>
              <a:tr h="16758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能力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98977"/>
                  </a:ext>
                </a:extLst>
              </a:tr>
              <a:tr h="155617">
                <a:tc rowSpan="9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小艺慧记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主题、关键词、待办、发言人总结、摘要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7474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6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基于场景的模板纪要，会议、学习、访谈场景下模板摘要</a:t>
                      </a:r>
                      <a:endParaRPr lang="zh-CN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551333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场景自感知及模板类型扩充，支持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大场景、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29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子场景智能摘要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77148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个性化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基于用户自定义模板的摘要生成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02383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结合用户笔记、重点生成纪要，结果中标注笔记来源，内容可追溯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81245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待办以“待办事项、责任人、截止时间”结构化输出并同步给小艺简报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684718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对用户截图进行内容提取，结合原文生成摘要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81478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多语种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支持中英文场景纪要生成，根据文本语种自动判断，会中双语显示、会后支持翻译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281894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多视角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Agent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协同纪要生成方案探索，结合记忆增强、视角分析提升纪要质量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476888"/>
                  </a:ext>
                </a:extLst>
              </a:tr>
              <a:tr h="155617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录音机</a:t>
                      </a: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备忘录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模板摘要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会议、学习、访谈模板摘要；思维导图；智能命名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315516"/>
                  </a:ext>
                </a:extLst>
              </a:tr>
              <a:tr h="155617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同声传译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多语种摘要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会中实时总结、会后全文总结，多语种直出或级联方案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216965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6140097-1DC5-405F-95C6-63823F3EFD3C}"/>
              </a:ext>
            </a:extLst>
          </p:cNvPr>
          <p:cNvSpPr txBox="1"/>
          <p:nvPr/>
        </p:nvSpPr>
        <p:spPr>
          <a:xfrm>
            <a:off x="453446" y="960321"/>
            <a:ext cx="491801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数据构建：开源数据、现网回流数据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模型训练：基模选型、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RL </a:t>
            </a: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推理优化：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</a:t>
            </a: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调优、推理加速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评测：自动评测、人工评测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迭代上线、问题分析</a:t>
            </a:r>
          </a:p>
        </p:txBody>
      </p:sp>
    </p:spTree>
    <p:extLst>
      <p:ext uri="{BB962C8B-B14F-4D97-AF65-F5344CB8AC3E}">
        <p14:creationId xmlns:p14="http://schemas.microsoft.com/office/powerpoint/2010/main" val="25468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 产品与业务现状（延展）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对照上一页能力表：已有的先说清，缺口按「用户能否感知」排序。官方帮助中心口径单独标注。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005840"/>
          <a:ext cx="11750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880360"/>
                <a:gridCol w="3657600"/>
                <a:gridCol w="2971800"/>
              </a:tblGrid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上一页已有能力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业界对标（可核对）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仍缺、用户能感到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基础：主题/关键词/待办/发言人总结/摘要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飞书妙记、元宝纪要、Fathom 都有。及格线，不是差异。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待办若没有责任人+截止日期，等于没发生。你们表里已写「待办事项、责任人、截止时间」并进小艺简报——这是对的，要保证默认抽出人+期。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守住，作为 P0 验收项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大场景 29 子场景 + 自定义模板 + 笔记可追溯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腾讯有面试/学霸等模板；Plaud 宣传海量模板；讯飞自适应纪要可溯源。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场景自感知是优势。笔记追溯接近「可核对」，但业界标杆是跳回原话时间戳（听悟/飞书待办原文跳转/Teams Recap）。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P0：每条纪要/待办能跳回原话。笔记追溯保留。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截图抽内容进摘要（多模态）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听悟抽幻灯（最多约 200 张，挡幻灯会差）；元宝边录边拍；多维视界看 PPT/白板。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截图是人触发，合规友好。缺的是自动关键帧（翻页）和 Highlight「这句重要」。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P1：截图保留；加打点。不要未告知看屏幕。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中英纪要、会中双语、会后翻译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DeepL/Teams/Zoom 会中同传强；Google Take notes 一场会一种口语、不含中文。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华为移动端帮助中心写明：慧记转写当前仅中文普通话。纪要中英和转写仅普通话是两层能力，对外必须分开讲，避免口径打架。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P0：一场中英混合会的双栏结构要能演示。转写语种短板单独排期。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多视角/多 Agent 探索；待办同步简报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Notion Custom Agent、飞书豆包、ZoomMate、讯飞 GlassClaw 已在「会后干活」。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探索尚未产品化。待办进简报还不是进任务系统。Agent 全自动改生产，多数企业 24 个月内不敢开。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P1：建议清单+人点确认，只打通一个任务系统。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录音机/备忘录模板摘要；同传会中会后总结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HarmonyOS 7 录音机：智能命名、思维导图、会议/学习摘要（花粉 Beta 稿）。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三端能力若各出一份纪要，用户会问「到底信哪份」。同传总结和慧记结构要进同一份库。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P0：一场对话一份库。录音机/同传是入口，慧记是结果层。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" y="4617720"/>
            <a:ext cx="580644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官方能力（帮助中心，避免口头夸大）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HarmonyOS 6 电脑慧记：可识别飞书、钉钉、华为云会议进行中并主动推荐；收音可选麦克风 / 系统内声音 / 两者；会中截图、备注、关注发言人、智能提醒（关键词推送）；会后保存录音/摘要/截图/待办到小艺。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移动端：同样支持截屏和想法；转写目前仅中文普通话。电脑侧多入口（媒体音+麦克风）是相对 Granola「本机听系统声」的对齐项。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617720"/>
            <a:ext cx="576072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现状页的优先级（只排慧记，不把同传 P0 混进来）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P0：跳回原话；说话人会后改名写回；一场对话一份库；中英混合会双栏结构能演示；待办默认人+期。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P1：Highlight 打点；角色裁剪一页纸；待办两步确认写入一个系统；转写语种与纪要中英口径对齐。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P2：跨记录问答做成「上季度客户怎么说交期」；只读 MCP；端侧高密会议作为可讲的治理卖点。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3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业界产品与场景洞察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119A074-43ED-46CD-996A-CEEEF987F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84291"/>
              </p:ext>
            </p:extLst>
          </p:nvPr>
        </p:nvGraphicFramePr>
        <p:xfrm>
          <a:off x="127977" y="996983"/>
          <a:ext cx="6447701" cy="454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30614">
                  <a:extLst>
                    <a:ext uri="{9D8B030D-6E8A-4147-A177-3AD203B41FA5}">
                      <a16:colId xmlns:a16="http://schemas.microsoft.com/office/drawing/2014/main" val="725965299"/>
                    </a:ext>
                  </a:extLst>
                </a:gridCol>
                <a:gridCol w="4317087">
                  <a:extLst>
                    <a:ext uri="{9D8B030D-6E8A-4147-A177-3AD203B41FA5}">
                      <a16:colId xmlns:a16="http://schemas.microsoft.com/office/drawing/2014/main" val="2330183827"/>
                    </a:ext>
                  </a:extLst>
                </a:gridCol>
              </a:tblGrid>
              <a:tr h="468591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竞品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亮点功能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260787"/>
                  </a:ext>
                </a:extLst>
              </a:tr>
              <a:tr h="684677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讯飞星火纪要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实时录入、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音视频文本</a:t>
                      </a:r>
                      <a:r>
                        <a:rPr lang="zh-CN" altLang="en-US" sz="1100" dirty="0"/>
                        <a:t>多格式离线上传；支持提前录制声纹；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多方言、外语支持</a:t>
                      </a:r>
                      <a:r>
                        <a:rPr lang="zh-CN" altLang="en-US" sz="1100" dirty="0"/>
                        <a:t>；多种纪要模板及模板自定义；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跨纪要问答、交叉对比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53610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讯飞录音笔、办公本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多方言外语</a:t>
                      </a:r>
                      <a:r>
                        <a:rPr lang="zh-CN" altLang="en-US" sz="1100" dirty="0"/>
                        <a:t>支持；会议类型自适应；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离线</a:t>
                      </a:r>
                      <a:r>
                        <a:rPr lang="zh-CN" altLang="en-US" sz="1100" dirty="0"/>
                        <a:t>语音转写与纪要生成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97218"/>
                  </a:ext>
                </a:extLst>
              </a:tr>
              <a:tr h="468591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飞书妙记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关键词搜索；智能翻译；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待办原文跳转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89672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通义听悟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实时记录、音视频上传；发言人、文字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实时修改、高亮标记</a:t>
                      </a:r>
                      <a:r>
                        <a:rPr lang="zh-CN" altLang="en-US" sz="1100" dirty="0"/>
                        <a:t>；内容回顾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原文跳转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09336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腾讯会议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根据说话人语气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识别会议氛围</a:t>
                      </a:r>
                      <a:r>
                        <a:rPr lang="zh-CN" altLang="en-US" sz="1100" dirty="0"/>
                        <a:t>；个性化选择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角色；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元宝联动</a:t>
                      </a:r>
                      <a:r>
                        <a:rPr lang="zh-CN" altLang="en-US" sz="1100" dirty="0"/>
                        <a:t>、信息问答、联网搜索；主持人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纪要管控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5453"/>
                  </a:ext>
                </a:extLst>
              </a:tr>
              <a:tr h="468591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钉钉</a:t>
                      </a:r>
                      <a:r>
                        <a:rPr lang="en-US" altLang="zh-CN" sz="1100" dirty="0"/>
                        <a:t>DingTalkA1/ </a:t>
                      </a:r>
                      <a:r>
                        <a:rPr lang="zh-CN" altLang="en-US" sz="1100" dirty="0"/>
                        <a:t>钉钉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耳机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记录、转写、同声传译、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纪要生成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932465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en-US" altLang="zh-CN" sz="1100" dirty="0" err="1"/>
                        <a:t>Plaud</a:t>
                      </a:r>
                      <a:r>
                        <a:rPr lang="en-US" altLang="zh-CN" sz="1100" dirty="0"/>
                        <a:t> Note / Pin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总结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模板自定义</a:t>
                      </a:r>
                      <a:r>
                        <a:rPr lang="zh-CN" altLang="en-US" sz="1100" dirty="0"/>
                        <a:t>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大语言模型自由选择</a:t>
                      </a:r>
                      <a:r>
                        <a:rPr lang="zh-CN" altLang="en-US" sz="1100" dirty="0"/>
                        <a:t>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思维导图生成</a:t>
                      </a:r>
                      <a:r>
                        <a:rPr lang="zh-CN" altLang="en-US" sz="1100" dirty="0"/>
                        <a:t>；功能丰富、形式多样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095769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prstClr val="black"/>
                          </a:solidFill>
                        </a:rPr>
                        <a:t>Google meet- take notes for me</a:t>
                      </a:r>
                      <a:endPara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Gemini</a:t>
                      </a:r>
                      <a:r>
                        <a:rPr lang="zh-CN" altLang="en-US" sz="1100" dirty="0"/>
                        <a:t>会议记录；支持英法德意日韩葡语（不支持多语言会议）；主持人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纪要管控</a:t>
                      </a:r>
                      <a:r>
                        <a:rPr lang="zh-CN" altLang="en-US" sz="1100" dirty="0"/>
                        <a:t>；会后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邮件、日历事项生成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040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051FB888-0592-4320-A9D3-4181561C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349" y="322699"/>
            <a:ext cx="1157726" cy="16125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A5F8ED-8198-416A-83E7-17B01E20B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258" y="322699"/>
            <a:ext cx="2488384" cy="16212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960030-802F-4024-B693-E9E57F6C9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458" y="424854"/>
            <a:ext cx="2193844" cy="15062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327735-C2F9-4630-8D63-56F2F0556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029" y="2274297"/>
            <a:ext cx="2322545" cy="1327170"/>
          </a:xfrm>
          <a:prstGeom prst="rect">
            <a:avLst/>
          </a:prstGeom>
        </p:spPr>
      </p:pic>
      <p:pic>
        <p:nvPicPr>
          <p:cNvPr id="11" name="Picture 2" descr="https://cdn.meeting.tencent.com/pro/5e4a7bc41fb125d8ccc47d0f1a9993bd.png">
            <a:extLst>
              <a:ext uri="{FF2B5EF4-FFF2-40B4-BE49-F238E27FC236}">
                <a16:creationId xmlns:a16="http://schemas.microsoft.com/office/drawing/2014/main" id="{AA2600B5-09E5-424F-A25E-346537A9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355" y="2179813"/>
            <a:ext cx="2205290" cy="150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C47051-9945-426C-8D27-3160F2B619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344" y="4001903"/>
            <a:ext cx="1018957" cy="1967784"/>
          </a:xfrm>
          <a:prstGeom prst="roundRect">
            <a:avLst>
              <a:gd name="adj" fmla="val 7022"/>
            </a:avLst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6E306A3-CA88-4A6F-87B7-86274353BD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3450" y="4011772"/>
            <a:ext cx="939123" cy="19579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ACE3793-7AAB-41B9-B15F-FCA17CEA5E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949" y="2262922"/>
            <a:ext cx="1225353" cy="126564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BAC3F4-50A0-4108-BE6F-8DD1F36D4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581" y="4000319"/>
            <a:ext cx="3405296" cy="19579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C2AD6D0-F59E-4CCD-AF47-CE2DDAF4B187}"/>
              </a:ext>
            </a:extLst>
          </p:cNvPr>
          <p:cNvSpPr txBox="1"/>
          <p:nvPr/>
        </p:nvSpPr>
        <p:spPr>
          <a:xfrm>
            <a:off x="6788423" y="201053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讯飞星火纪要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8377CA-8328-4688-9BCF-46D3989BDA0F}"/>
              </a:ext>
            </a:extLst>
          </p:cNvPr>
          <p:cNvSpPr txBox="1"/>
          <p:nvPr/>
        </p:nvSpPr>
        <p:spPr>
          <a:xfrm>
            <a:off x="8651581" y="203209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讯飞</a:t>
            </a:r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X5</a:t>
            </a:r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办公本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A3FC87-68B0-47B7-A3BB-367733E49884}"/>
              </a:ext>
            </a:extLst>
          </p:cNvPr>
          <p:cNvSpPr txBox="1"/>
          <p:nvPr/>
        </p:nvSpPr>
        <p:spPr>
          <a:xfrm>
            <a:off x="10435627" y="203209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飞书秒记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FC7A34-2C00-4EE8-9AA9-F68B1CCF1968}"/>
              </a:ext>
            </a:extLst>
          </p:cNvPr>
          <p:cNvSpPr txBox="1"/>
          <p:nvPr/>
        </p:nvSpPr>
        <p:spPr>
          <a:xfrm>
            <a:off x="6638026" y="3624275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通义听悟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F99A3A-7BE3-45C3-99F7-B4C60B2BEA57}"/>
              </a:ext>
            </a:extLst>
          </p:cNvPr>
          <p:cNvSpPr txBox="1"/>
          <p:nvPr/>
        </p:nvSpPr>
        <p:spPr>
          <a:xfrm>
            <a:off x="8894612" y="3625088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腾讯会议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0D1DFE-80E4-4C49-956A-575A61BC818B}"/>
              </a:ext>
            </a:extLst>
          </p:cNvPr>
          <p:cNvSpPr txBox="1"/>
          <p:nvPr/>
        </p:nvSpPr>
        <p:spPr>
          <a:xfrm>
            <a:off x="10849350" y="3605497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钉钉</a:t>
            </a:r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DingTalkA1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410ECF-48F9-48FF-AB99-2DA392D47587}"/>
              </a:ext>
            </a:extLst>
          </p:cNvPr>
          <p:cNvSpPr txBox="1"/>
          <p:nvPr/>
        </p:nvSpPr>
        <p:spPr>
          <a:xfrm>
            <a:off x="6600252" y="598980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1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Plaud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C93670-E3B4-4F26-8EB0-B5C61E8B0E72}"/>
              </a:ext>
            </a:extLst>
          </p:cNvPr>
          <p:cNvSpPr txBox="1"/>
          <p:nvPr/>
        </p:nvSpPr>
        <p:spPr>
          <a:xfrm>
            <a:off x="9688830" y="5973703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Google meet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2E49B4-C27E-4258-AB6B-02CF5B9EF0AC}"/>
              </a:ext>
            </a:extLst>
          </p:cNvPr>
          <p:cNvSpPr/>
          <p:nvPr/>
        </p:nvSpPr>
        <p:spPr>
          <a:xfrm>
            <a:off x="6838665" y="772497"/>
            <a:ext cx="951271" cy="155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467E42-5FE9-45E9-A133-92D3C8AFFF48}"/>
              </a:ext>
            </a:extLst>
          </p:cNvPr>
          <p:cNvSpPr/>
          <p:nvPr/>
        </p:nvSpPr>
        <p:spPr>
          <a:xfrm>
            <a:off x="11171903" y="619692"/>
            <a:ext cx="616274" cy="258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089760-99E9-4797-80AB-B7EB25398988}"/>
              </a:ext>
            </a:extLst>
          </p:cNvPr>
          <p:cNvSpPr/>
          <p:nvPr/>
        </p:nvSpPr>
        <p:spPr>
          <a:xfrm>
            <a:off x="7312695" y="2432416"/>
            <a:ext cx="231106" cy="98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175B61-DC4C-4445-BF62-45DB2AB66FF6}"/>
              </a:ext>
            </a:extLst>
          </p:cNvPr>
          <p:cNvSpPr/>
          <p:nvPr/>
        </p:nvSpPr>
        <p:spPr>
          <a:xfrm>
            <a:off x="6274487" y="2670173"/>
            <a:ext cx="307287" cy="7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F75DA1-FAFA-48BF-8130-89BF486DE932}"/>
              </a:ext>
            </a:extLst>
          </p:cNvPr>
          <p:cNvSpPr/>
          <p:nvPr/>
        </p:nvSpPr>
        <p:spPr>
          <a:xfrm>
            <a:off x="9807859" y="3271116"/>
            <a:ext cx="769654" cy="148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7C304A-D1FA-4C56-9E15-DF167CCBC268}"/>
              </a:ext>
            </a:extLst>
          </p:cNvPr>
          <p:cNvSpPr/>
          <p:nvPr/>
        </p:nvSpPr>
        <p:spPr>
          <a:xfrm>
            <a:off x="10630184" y="4368800"/>
            <a:ext cx="675991" cy="98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9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 业界产品与场景洞察（延展）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上一页截图里的 8 家是国内能看见的。这一页补上他们没放的、但 2026 年仍在被认真对比的产品，以及和慧记的对照。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005840"/>
          <a:ext cx="11750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3383280"/>
                <a:gridCol w="2971800"/>
              </a:tblGrid>
              <a:tr h="676656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上一页已列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他们真正强在哪（避免只抄宣传）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页上没列、但必须知道的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对慧记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76656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讯飞星火纪要 / 录音笔 / X5 办公本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声纹可预录、多方言外语、离线上传、跨纪要问答。自适应纪要可溯源（2025-11）。眼镜 40g/4299 元，122 语翻译后接 GlassClaw 做纪要发邮件。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方言和离线是讯飞护城河，90 天追不上，不要对标 ASR 金标。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可核对（溯源）和离线高密，是我们端云架构该打的点，不是堆方言。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飞书妙记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待办原文跳转、智能翻译、飞书 8.0 Agent 进群读妙记（2026-09-15）。安克耳机录完进妙记。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生态绑定极深，离开飞书大打折扣。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跳回原话要对齐；不要做飞书里的第三个纪要 App，做跨飞书/钉钉/华为云会议的同一份库。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76656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通义听悟 / 腾讯会议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听悟：跳转原文、中英自由说、抽幻灯。元宝：氛围/语气、角色、托管代参会、弹幕、联网问。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腾讯托管 2025-09 已产品化。Google Take notes 不含中文、一场会一种口语。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氛围情绪不要学（欧盟禁职场情绪推断）。托管/角色裁剪可学「缺席者一页纸」。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钉钉 A1 / Plaud / Google Meet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A1：线下硬件回传听记。Plaud：模板、选模型、短按标记重点、NotePin S。Meet：主持管控、会后邮件日历。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 无 Bot+MCP（C 轮 1.25 亿美元）。ZoomMate 动作层约 $20/人/月。Notion Agent。Fellow 治理。多维视界看画面。Ai好记结构入库。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Bot 本机采集你们已有（系统声+麦）。MCP 和动作层是 6–12 月。Highlight 对标 Plaud 短按。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" y="4480560"/>
            <a:ext cx="5806440" cy="214884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空档三格（竞品表对完之后还空着）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1. 同传和纪要同一时间轴：会中双语你们在做，会后双栏结构+待办不串语言，飞书有叙事、Zoom/Teams 弱。2. 跨套件同一份库：系统已能识别飞书/钉钉/华为云会议，这是 Granola 在海外做、国内套件互相不做的缝。3. 画面进纪要：截图已有，自动关键帧和「打点」还没有。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Bot 疲劳：Laxis 约 84% 见 Bot 改口。Meet 默拒部分 Bot。系统级本机采集是优势，不要倒回去做进会机器人。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480560"/>
            <a:ext cx="5760720" cy="214884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场景正在起量、且和慧记入口匹配的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访谈/课堂/培训：你们已有模板，听悟/Ai好记在抢录播知识化。销售/客户沟通：不要做成 Gong，做客户会模板+待办人期。微信语音：ima/听悟能吃，系统录音机是入口。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人到不了会：腾讯托管已有；我们更适合「智能提醒+会后 Catch-up」而不是代发言。高密会议：端模是可讲的治理卖点，Fellow 把这一层卖给受监管行业。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4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技术趋势与标杆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E633861-B03A-476B-9B08-E62004E55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196434"/>
              </p:ext>
            </p:extLst>
          </p:nvPr>
        </p:nvGraphicFramePr>
        <p:xfrm>
          <a:off x="175834" y="622636"/>
          <a:ext cx="7074131" cy="515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050">
                  <a:extLst>
                    <a:ext uri="{9D8B030D-6E8A-4147-A177-3AD203B41FA5}">
                      <a16:colId xmlns:a16="http://schemas.microsoft.com/office/drawing/2014/main" val="3053545501"/>
                    </a:ext>
                  </a:extLst>
                </a:gridCol>
                <a:gridCol w="1304937">
                  <a:extLst>
                    <a:ext uri="{9D8B030D-6E8A-4147-A177-3AD203B41FA5}">
                      <a16:colId xmlns:a16="http://schemas.microsoft.com/office/drawing/2014/main" val="3048498650"/>
                    </a:ext>
                  </a:extLst>
                </a:gridCol>
                <a:gridCol w="1251518">
                  <a:extLst>
                    <a:ext uri="{9D8B030D-6E8A-4147-A177-3AD203B41FA5}">
                      <a16:colId xmlns:a16="http://schemas.microsoft.com/office/drawing/2014/main" val="1513863339"/>
                    </a:ext>
                  </a:extLst>
                </a:gridCol>
                <a:gridCol w="1709768">
                  <a:extLst>
                    <a:ext uri="{9D8B030D-6E8A-4147-A177-3AD203B41FA5}">
                      <a16:colId xmlns:a16="http://schemas.microsoft.com/office/drawing/2014/main" val="771553477"/>
                    </a:ext>
                  </a:extLst>
                </a:gridCol>
                <a:gridCol w="1670858">
                  <a:extLst>
                    <a:ext uri="{9D8B030D-6E8A-4147-A177-3AD203B41FA5}">
                      <a16:colId xmlns:a16="http://schemas.microsoft.com/office/drawing/2014/main" val="1412936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维度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初级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进阶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业界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慧记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58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转写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说话人、时间戳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非实时说话人、多语种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实时说话人、中英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42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模态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图片、视频、笔记、文档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音频、文本、图片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3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音频、文本、图片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2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纪要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扁平总结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结构化纪要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标题、多模板摘要、待办、发言人总结、思维导图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3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标题、多模板摘要、待办、发言人总结、思维导图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23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可信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内容生成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信息抽取、证据检索、事实校验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内容生成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笔记内容追溯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18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记录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单场记录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多记录信息联动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多记录联合生成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跨记录问答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85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角色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会议内容理解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会议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千问、悟空联动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待办同步系统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7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云侧（隐私问题）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端云协同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大多纯云侧模型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云模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端模支持，高密会议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2022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2542A997-B355-4EEC-9741-3D04A7E3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228" y="1385602"/>
            <a:ext cx="4601217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 技术趋势与标杆（延展）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把上一页「初级 / 进阶 / 业界 / 慧记」翻译成差距判断。进阶列才是 12 个月该追的标杆，不是初级列。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005840"/>
          <a:ext cx="11750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11680"/>
                <a:gridCol w="2606040"/>
                <a:gridCol w="3108960"/>
                <a:gridCol w="2971800"/>
              </a:tblGrid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慧记现在（上一页）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进阶标杆（该追）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业界实际（避免高估）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差距判断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实时说话人、中英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说话人+词级时间戳可改名写回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托管 ASR 正在把说话人做成标配（MAI-Transcribe-2）。讯飞预录声纹。移动端官方仅普通话转写。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实时说话人是优势。缺改名写回。中英纪要≠中英转写，口径要拆开。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模态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音频、文本、图片（截图）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图片/视频/笔记/文档；翻页关键帧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多数巨头只吃声音。听悟/多维视界/元宝在试画面。整场视频进模型会爆窗口，只能关键帧。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截图路径正确。下一步打点+翻页，不要上摄像头常驻。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标题、多模板、待办、发言人总结、脑图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结构化：议题/决议/待办（人+期）/风险，每条带时间戳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平台摘要仍偏散文。Ai好记/话袋打结构。腾讯模板多。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模板数量是优势。结构字段和跳回原话才是差异。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可信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笔记内容追溯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信息抽取、证据检索、事实校验，点回原话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业界多数仍是内容生成（上一页也这么标）。听悟/飞书已做原文跳转。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笔记追溯是起点。P0 补原话时间戳，否则管理层不信。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跨记录问答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多记录联动生成 + 组织级检索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 Spaces/MCP、Fireflies AskFred、ima。Basic 往往限历史窗口。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跨记录问答要对准「上季度客户怎么说交期」，不是聊天窗。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待办同步小艺简报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会议 Agent：会中插话、会后干活、人点确认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千问/悟空联动、Facilitator、ZoomMate、豆包工作伙伴。全自动改生产多数企业不敢开。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简报同步≠任务系统。P1 两步确认，只打通一个系统。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440055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云模/端模，高密会议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端云协同，敏感会不出网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大多纯云。Apple 端侧大陆不可用。Minutes 本地+MCP。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这是真优势。要能讲清：高密会端侧只出结构不存原声。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" y="4617720"/>
            <a:ext cx="580644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和语音翻译技术栈的关系（避免两套人马）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同传 21 语、S2TT 5s、端侧仅中英，是翻译线的现状。慧记复用同传做会中会后纪要——如果时间轴对不齐，用户会得到「听懂了但纪要对不上」的两份东西。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共用：术语表、说话人库、时间戳。不要慧记一套摘要模型、同传一套摘要模型。流式 TTS/S2ST 是翻译 P0，慧记 P0 是结构和可核对。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617720"/>
            <a:ext cx="576072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标杆指标建议（汇报时用，代替空泛「业界领先」）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转写：说话人改名一次后，下场会自动用。纪要：待办含人+期的比例、人工改动率。可信：从结论点回原话的成功率。端云：高密会能否关闭云侧训练/上传原声。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不要用干净播客 WER 当 KPI。评测集：中英混合、交叠说话、专有名词、远程+本地、带 PPT 的评审。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5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机会与外延增量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5" name="Table 30">
            <a:extLst>
              <a:ext uri="{FF2B5EF4-FFF2-40B4-BE49-F238E27FC236}">
                <a16:creationId xmlns:a16="http://schemas.microsoft.com/office/drawing/2014/main" id="{AEF2EF8E-8C76-49ED-AF18-4F5A30C91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725003"/>
              </p:ext>
            </p:extLst>
          </p:nvPr>
        </p:nvGraphicFramePr>
        <p:xfrm>
          <a:off x="160934" y="788868"/>
          <a:ext cx="11750040" cy="553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业界已经做到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仍然空着（可切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天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中英/多语客户会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会中同传：Teams、Zoom Voice Translator、DeepL GA、Meet。飞书有译文写入纪要的叙事。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同一时间轴双栏：议题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决议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待办中英对照；待办字段分开；时间戳点回原话。Google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Take notes 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一场会一种口语、不含中文；Teams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多语混说只记所选语言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能。ASR+MT 即可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按小时卖同传主产品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人到不了会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 AI 托管 2025-09；飞书豆包工作伙伴可带上下文代参会（定向）。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按角色裁一页纸；不能托管的会清单（加密、等候室、研讨会）。托管中主账号入会应取消托管。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缺席者 Catch-up 模板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默认代发言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评审/培训/Demo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听悟抽约 200 张幻灯（挡会差）；元宝边录边拍；多维视界看 PPT/白板；Plaud 可拍照进上下文。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翻页/激光笔/用户打点才采样。Highlight 加权进决议/待办。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上传录像或手动打点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未告知常驻看屏幕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会后执行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ZoomMate、Notion Custom Agent、豆包、WorkBuddy、讯飞 GlassClaw。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建议清单（系统、标题、人、期、原话）→勾选→写入一个任务系统，可回滚。默认只写测试空间。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只打通一个系统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一键改生产 CRM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跨入口记忆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各家只认自家的会。Granola MCP、ima 吃微信、Fireflies→Claude。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腾讯会+飞书+Zoom+线下+通话+微信语音进同一 schema。问「上季度客户怎么说交期」。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一个来源+上传语音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同时接四家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308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合规采集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Fellow 治理；Apple 端侧（大陆不可用）；Minutes 本地+31 个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设置页：不训练、可关、留存 30/90/0、标题禁录、合成音标注、拟声默认关。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设置页先于文采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全天可穿戴监听</a:t>
                      </a:r>
                      <a:endParaRPr sz="1100" b="0" dirty="0">
                        <a:solidFill>
                          <a:srgbClr val="0F111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 机会与外延增量（延展）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上一页六类场景仍然成立。这一页把每条缝对齐到慧记已有能力，避免「缝很大、但我们其实已经做了一半」。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005840"/>
          <a:ext cx="11750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880360"/>
                <a:gridCol w="4160520"/>
                <a:gridCol w="3154680"/>
              </a:tblGrid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场景（上一页）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慧记已经碰到的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仍然空着、90 天能做的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中英/多语客户会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会中双语显示、会后翻译、中英纪要（产品表）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双栏同一时间轴；待办中英字段分开；每条跳回原话。转写仅普通话的限制要在演示里如实说。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按小时卖同传；对外宣称转写已多语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人到不了会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智能提醒（关键词推送，官方帮助中心）；关注指定发言人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缺席者 3 分钟 Catch-up 一页纸。不要上代发言。不能记录的会要能禁录。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默认代发言；情绪/氛围仪表盘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评审/培训/Demo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用户截图抽内容；学习/访谈模板；8 大场景 29 子场景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截图保留。加 Highlight 打点。翻页关键帧可后做。笔记来源标注已经接近可追溯。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未告知常驻看屏幕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会后执行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待办人+期，同步小艺简报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建议清单→人勾选→写入一个任务系统（日历/待办），可回滚。只打通一个。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一键改企业微信/飞书生产任务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跨入口记忆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电脑可识别飞书/钉钉/华为云会议并推荐慧记；跨记录问答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一场对话一份库（慧记+录音机+同传）。问答对准「上次客户怎么说交期」。先一个来源做深。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同时接四家 Bot；每端一份纪要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合规采集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端模/高密会议（上一页技术表）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设置页：不训练、可关、留存天数、合成音标注。移动端转写仅普通话也是一种「能力边界声明」。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0000" rIns="22000" tIns="16000" bIns="12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全天可穿戴监听；用客户会训公有模型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7744" y="4617720"/>
            <a:ext cx="580644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三件套：多数竞品停在第 1 层，慧记可以停在第 2 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第 1 层会中听懂：同传和耳机在收，不是慧记主战场。第 2 层会后可核对结构：模板+待办人期你们有，缺跳回和双栏。第 3 层跨会知识：跨记录问答有雏形，缺 MCP 和引用。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90 天打穿第 2 层。第 3 层 schema 先冻结。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617720"/>
            <a:ext cx="5760720" cy="20116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P0 切口（只挑慧记 90 天能碰的）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P0：跳回原话；说话人改名写回；一场对话一份库；中英双栏演示（如实披露转写边界）。P1：Highlight；角色一页纸；待办确认写入。P2：关键帧、MCP、端侧高密作为可售选项。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过关：真实会或上传录音→结构纪要→待办有人有期→能回放→能改名→能导出。当场能讲清和飞书/讯飞/听悟的差异不靠「更准」。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09728"/>
            <a:ext cx="11704320" cy="38404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 机会与外延增量（入口与工作流）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530352"/>
            <a:ext cx="12024360" cy="16459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585216"/>
            <a:ext cx="11795760" cy="347472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前两页写「缝在哪」。这一页写从哪进、从哪出。口径以华为帮助中心原文为准：摘要速览已经能点回转写，不要把「跳回」说成从零开始。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950976"/>
          <a:ext cx="117957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2944368"/>
                <a:gridCol w="2999232"/>
                <a:gridCol w="2487168"/>
                <a:gridCol w="2194560"/>
              </a:tblGrid>
              <a:tr h="637031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 / 小艺已经有（原文可核对）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业界公开进展（日期可查）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天可切的增量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37031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电脑帮助中心：系统识别飞书、钉钉、华为云会议进行中，主动推荐慧记。收音官方词是麦克风 / 媒体声音 / 两者。已在会且未开慧记会发通知。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 / Notion / Wispr / Plaud Desktop：本机无 Bot。飞书、腾讯在套件内录，不靠进会机器人。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入口已经够。增量是一场对话只进慧记一份库（慧记+录音机+同传不要三份摘要）。推荐从「通知」变成默认开。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进会机器人；每端各自出纪要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硬入口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 / 平板 / 鸿蒙电脑。眼镜、耳机在翻译线，帮助中心未写默认回传慧记。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Plaud NotePin S（CES 2026，The Verge）：长按录、短按标记重点。安克×飞书会议耳机 2026-09-14 上架约 1799 元，录音进妙记。讯飞 AI 眼镜 40g/4299 元（2026-05-28），GlassClaw 可出纪要、发邮件（厂商演示）。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只做接入：音频进同一 schema。Highlight（短按=这句重要）做成软件打点，不必自研按键。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自研录音笔 / 耳机模具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37031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转写 / 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说话人可改名（单点/本场全局）；常用发言人最多 6 个、发言满 200 字才能添加（5.2）。摘要速览点击可跳转并高亮原文（5.6）。待办可添加至日程（5.3）。移动端官方：转写当前仅中文普通话。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飞书待办原文跳转。讯飞自适应纪要可溯源。Google Take notes：英/法/德/意/日/韩/葡/西共 8 语，一场会一种口语，帮助中心名单不含中文。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 不是再加模板，而是把「决议/待办」做成独立字段，每条带时间戳点回原话。中英纪要和「转写仅普通话」必须分开讲。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再堆模板数量当差异；对外宣称转写已多语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7031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记忆 / 问答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电脑帮助中心：可问答历史慧记、多轮观点梳理、智能溯源。会中问答点击来源可高亮原文（5.8）。会后保存录音/摘要/截图/备注/待办到小艺。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 MCP（官网 2026-02-04）：Basic 限近 30 天且不含转写。飞书 8.0（2026-09-15）：Agent 可查阅云盘和妙记；豆包工作伙伴仍定向共创。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问答必须带原话引用。schema 先冻结，MCP 放 6–12 月。对准「上次客户怎么说交期」，不是再做一个聊天首页。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没有出处的聊天窗当首页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37036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待办同步小艺简报（产品表）。简报帮助中心：全局待办=整合系统及各应用待办，不是 Jira。小艺 Work 2026-09-16 内测：拆任务、调工具，关键节点由用户审核。帮助中心「小艺任务」是「当…就执行」自动化，不要和 Work 混为一谈。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Notion releases 2026-07-31：AI Meeting Notes 完成后可触发 Custom Agents（改 tracker、发 recap、建工单）。Zoom 定价页：ZoomMate 年付折合约 16.67 美元/人/月，按月口径约 20 美元；需 Workplace 席位，含 2200 credits。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 Work 的「关键节点审核」：建议清单→人勾选→写入日历或简报全局待办。只打通一个出口。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一键改生产 CRM / 飞书任务；跳过确认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9456" y="4846320"/>
            <a:ext cx="5833872" cy="1847088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工作流怎么排（跟系统能力对齐，不另造一套）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慧记抽出待办（人+期）→ 用户改名/改期 → 写入日程或小艺简报全局待办 → 可选再交给小艺 Work 做周报，关键节点仍要人审。Notion 已经用「纪要完成触发 Agent」打通；鸿蒙侧 Work 写明「用户审核」，和我们「两步确认」是同一原则。简报只负责看见待办，不负责改企业任务。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4846320"/>
            <a:ext cx="5833872" cy="1847088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入口怎么排；跳回不要讲过头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软入口优先：飞书/钉钉/华为云会议已被系统识别，把「推荐慧记」做成默认开、一份库。硬入口只接不造。摘要速览、智能提醒、问答已经能高亮原文（5.6–5.8），缺的是决议/待办作为独立字段的时间戳，不是从零做跳转。常用发言人已有，但上限 6 人且要满 200 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09728"/>
            <a:ext cx="11704320" cy="38404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 机会与外延增量（角色化与相邻市场）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530352"/>
            <a:ext cx="12024360" cy="16459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585216"/>
            <a:ext cx="11795760" cy="347472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模板数量（8 大场景 29 子场景）已经是优势。增量不在第 30 个子场景，而在同一场会按角色裁剪，以及会议之外仍用同一套结构。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950976"/>
          <a:ext cx="117957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2907792"/>
                <a:gridCol w="2487168"/>
                <a:gridCol w="2670048"/>
                <a:gridCol w="2468880"/>
              </a:tblGrid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外延方向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业界已验证（来源）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慧记已碰到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天可演示的切法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角色化一页纸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腾讯元宝宣传多角色「会议秘书 / 行业专家」为未来能力（宣传口径，未当已上线）。Teams Facilitator / Catch me up 是会中版，会后仍弱。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产品表：多视角 / 多 Agent 仍是方案探索。关注指定发言人、发言总结已有（发言满 200 字）。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同一场会三页：主持人（决议+待办）、执行人（只看自己的人+期）、缺席者（3 分钟）。换 schema 权重，不是换皮肤。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情绪 / 氛围仪表盘。欧盟 AI Act 第 5(1)(f) 条：职场情绪推断 2025-02-02 起禁（医疗/安全除外）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可解释引用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飞书待办原文跳转；听悟点进度条；Teams Recap 时间戳；讯飞自适应纪要可溯源。管理层不信「AI 说开会决定了」。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摘要速览 / 智能提醒 / 问答已能高亮原文。笔记来源标注、截图进摘要。还不是「待办/决议」字段级时间戳。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每条决议、待办带时间戳，点一下回到那句原话。这是从内容生成迈到证据检索的最小一步。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只加更长摘要、不给回链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微信 / 电话承诺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ima、通义听悟、讯飞听见能吃本地 / 微信语音。国内大量承诺不在 Zoom。安克×飞书耳机：可记手机通话，录音同步飞书（2026-09-15 大会）。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录音机 / 备忘录模板摘要；通话翻译在翻译线。两套结果若不合库，用户不知道信哪份。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上传录音或录音机一键进慧记，走同一结构。当作一等采集，不是附录。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再做一个微信机器人纪要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培训 / 课堂 / 录播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Ai好记、听悟、ima、NotebookLM：长音频变笔记+导图+测验。听悟帮助中心：视频可抽 PPT，最多约 200 张。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学习、访谈模板；截图抽内容。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录播走上传，套学习模板，截图当关键帧。相邻市场，同一套结构+引用，不另做产品。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做成网课平台；未告知常驻看屏幕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560832"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会前准备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Notion 官方指南：Custom Agent 可在会前根据上次纪要和项目文档出议程（会前/会后双触发）。飞书 8.0 Agent 可安排日程待办、读妙记。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跨记录问答有雏形（帮助中心：多轮会议观点梳理）。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「上次待办没完成的提前列出来」比再做一个会中机器人更贴慧记。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8000" rIns="20000" tIns="14000" bIns="10000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会中主动插话、搜网页（Facilitator 路线，企业会关）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9456" y="4389120"/>
            <a:ext cx="5833872" cy="2286000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和前两页机会表怎么接；谁付钱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六类场景表回答「缝在哪」。入口表回答「从哪进、从哪出」。角色表回答「同一场会给谁看」。90 天只打：字段级跳回 + 改名跨场 + 一份库 + 角色一页纸 + 待办确认写入日程/简报。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商业上：纪要会继续 bundled 进系统（你们已经在系统里）。能单独被感知的是可核对、角色裁剪、跨入口一份库。动作层走 Work 的「关键节点审核」，不要抄 ZoomMate 的全自动改生产。DeepL Voice 会中同传已于 2026-09-15 GA，慧记不要再做同传主产品。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4389120"/>
            <a:ext cx="5833872" cy="2286000"/>
          </a:xfrm>
          <a:prstGeom prst="rect">
            <a:avLst/>
          </a:prstGeom>
          <a:noFill/>
        </p:spPr>
        <p:txBody>
          <a:bodyPr wrap="square" lIns="50000" rIns="40000" tIns="24000" bIns="18000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本页来源（均可公开打开）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华为帮助中心 zh-cn16073824：识别飞书/钉钉/华为云会议；收音；5.2 常用发言人；5.3 待办添加至日程；5.6 摘要跳转。zh-cn16073727 / 16045510：转写当前仅中文普通话。zh-cn16075819：小艺简报全局待办。小艺 Work：IT之家 2026-09-16 转述官方「关键节点由用户审核」。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Notion releases 2026-07-31。Zoom 定价页 zoom.us/pricing/aic。飞书 8.0：2026-09-15 大会报道。欧盟 AI Act Art.5(1)(f)。DeepL 博客 2026-09-15。Granola MCP 官网 2026-02-04。Google Meet 帮助中心 Take notes for me。Plaud NotePin S：The Verge 2026-01-04。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6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战略与路线图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5" name="Table 30">
            <a:extLst>
              <a:ext uri="{FF2B5EF4-FFF2-40B4-BE49-F238E27FC236}">
                <a16:creationId xmlns:a16="http://schemas.microsoft.com/office/drawing/2014/main" id="{8D4B00B8-0250-4396-96AF-EEF3A9C64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73605"/>
              </p:ext>
            </p:extLst>
          </p:nvPr>
        </p:nvGraphicFramePr>
        <p:xfrm>
          <a:off x="152436" y="946145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战线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现在（90 天能演示）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立刻排期（约 180 天试点）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未来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6–12 月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成功长什么样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语音翻译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锁中英：S2ST 可演示；首响 5s 往 2–3s 打。面对面/通话/同传共用底座。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 TTS。21 语识别打磨。术语表进同传。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端侧扩到 21 语。非中英 TTS 换小模型。S2TT 出海立项。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中英不破节奏。拟声可关，合成音有标注。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智慧记录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结构冻结：议题/决议/待办（人+期）/风险。每条回放。会后改名。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改名写回后续场次。客户会、评审会模板。Highlight。待办导出文件。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角色裁剪。跨会检索。只读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一页纸也信，因为能点回原话。待办落到人。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翻译×纪要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一场中英混合会：字幕双显+双栏对照。待办字段分开。标注 AI 翻译。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同传音频与纪要时间轴对齐。缺席者 Catch-up。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用中文问英文客户会。跨语言知识层。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不再在同传和纪要两个入口复制粘贴。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设备协同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主入口=手机+耳机或 PC。一场对话一份库。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跨设备续上。通话翻译与慧记打通。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眼镜/车机/手表只做听懂和提醒。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戴着就能记，不是每端一个 App。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治理与出海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默认不训练、可关采集。设置页先于文采。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留存 30/90/0 天。标题禁录。拟声默认关。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端侧/专有云可售。S2TT 出海。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 500 </a:t>
                      </a:r>
                      <a:r>
                        <a:rPr sz="12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人公司法务和信创清单</a:t>
                      </a:r>
                      <a:r>
                        <a:rPr sz="12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28016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 战略与路线图（延展）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" y="603504"/>
            <a:ext cx="12024360" cy="18288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694944"/>
            <a:ext cx="11750040" cy="27432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上一页五条战线仍然有效。这一页写成慧记视角的「不做什么、对标谁、如何衡量」。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" y="1005840"/>
            <a:ext cx="5806440" cy="283464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不做什么（写进项目计划）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不自研通用 ASR，不自建会议客户端。不跟讯飞拼方言金标，不跟 Gong 做销售操作系统。不做职场情绪/谈话占比（欧盟 2025-02 起禁职场情绪推断）。不默认全天可穿戴监听。不未告知看屏幕。不用客户会训公有模型。不一键改生产系统。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同传 P0（5s→2–3s、中英 S2ST）由翻译线扛；慧记复用时间戳和说话人库，不另起一套摘要模型。录音机/备忘录是入口，结果层只认慧记一份库。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三种收场里只押：平台吃掉会中，慧记做系统级会后结果层。硬件入口只做接入。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005840"/>
            <a:ext cx="5760720" cy="283464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对标谁（针对慧记，不是针对同传）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体感对标 Granola：本机采集、会议室不出现第三个头像——系统声+麦你们已有。交付对标飞书待办跳转原文 + 元宝结构模板 + 讯飞可溯源。闭环对标 Notion Agent，但更保守：人点确认。治理对标 Fellow + 你们自己的端模高密会。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三条建议：① 先成为飞书/钉钉/华为云会议之上的同一份结果（系统已能识别这三家）。② 把中英混合会做成样本，转写边界如实讲。③ 2027 年竞争点是「谁被允许接着干活」——确认流现在做成产品。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931920"/>
            <a:ext cx="5806440" cy="26974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90 天过关（慧记演示脚本）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鸿蒙 PC 或手机：识别一场飞书或钉钉会，或麦克风+系统声录一场中英混合讨论。不进会 Bot。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当场：结构纪要（议题/决议/待办人期/风险）；截图或笔记能在结果里追溯；待办进简报；说话人能改名；能导出。中英双栏若转写仍仅普通话，演示里主动说明「纪要翻译 vs 转写语种」两层。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加分：智能提醒触发一次；自定义模板；高密会走端模、设置里能看到不用于训练。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931920"/>
            <a:ext cx="5760720" cy="2697480"/>
          </a:xfrm>
          <a:prstGeom prst="rect">
            <a:avLst/>
          </a:prstGeom>
          <a:noFill/>
        </p:spPr>
        <p:txBody>
          <a:bodyPr wrap="square" lIns="50000" rIns="40000" tIns="24000" bIns="18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衡量是否做对了（不要只报 WER）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纪要人工改动率、待办被执行率、从开会到待办进简报/系统的时长、用户会后是否还打开慧记。双语追问次数作为中英能力的真实指标。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评测集自己建：中英混合、交叠说话、专有名词、远程+本地、带 PPT/截图的评审。官方口径（转写仅普通话）写进评测说明，避免研发和宣传各说各话。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先打通一个任务出口和一个会议来源。深度比「我们支持很多模板」更好看。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z1qtycj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2.xml><?xml version="1.0" encoding="utf-8"?>
<a:theme xmlns:a="http://schemas.openxmlformats.org/drawingml/2006/main" name="1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3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1695</Words>
  <Application>Microsoft Office PowerPoint</Application>
  <PresentationFormat>宽屏</PresentationFormat>
  <Paragraphs>234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Huawei Sans Medium</vt:lpstr>
      <vt:lpstr>quote-cjk-patch</vt:lpstr>
      <vt:lpstr>等线</vt:lpstr>
      <vt:lpstr>方正兰亭黑简体</vt:lpstr>
      <vt:lpstr>微软雅黑</vt:lpstr>
      <vt:lpstr>微软雅黑</vt:lpstr>
      <vt:lpstr>Arial</vt:lpstr>
      <vt:lpstr>6_章节页</vt:lpstr>
      <vt:lpstr>12_章节页</vt:lpstr>
      <vt:lpstr>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shenjiakun</cp:lastModifiedBy>
  <cp:revision>243</cp:revision>
  <dcterms:created xsi:type="dcterms:W3CDTF">2026-09-10T02:12:11Z</dcterms:created>
  <dcterms:modified xsi:type="dcterms:W3CDTF">2026-09-17T13:56:23Z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1789540133</vt:lpwstr>
  </property>
</Properties>
</file>